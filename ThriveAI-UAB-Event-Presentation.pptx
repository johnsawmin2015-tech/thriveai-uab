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719"/>
  </p:normalViewPr>
  <p:slideViewPr>
    <p:cSldViewPr snapToGrid="0">
      <p:cViewPr varScale="1">
        <p:scale>
          <a:sx n="122" d="100"/>
          <a:sy n="122" d="100"/>
        </p:scale>
        <p:origin x="22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on the promise: ThriveAI is not another reporting screen. It helps a Myanmar SME owner turn scattered figures into one grounded action, in Burmese or English. Set the expectation that every number remains traceable to deterministic code.</a:t>
            </a:r>
          </a:p>
          <a:p>
            <a:endParaRPr/>
          </a:p>
          <a:p>
            <a:r>
              <a:t>[Sources]</a:t>
            </a:r>
          </a:p>
          <a:p>
            <a:r>
              <a:t>- README.md — product positioning, solution, and live/source links</a:t>
            </a:r>
          </a:p>
          <a:p>
            <a:r>
              <a:t>- docs/pitch-and-qa.md — 90-second pitch and judge Q&amp;A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contradiction. Revenue is up, but cash is only MMK 4.3M against MMK 9.6M of payables and MMK 12M of receivables. The owner needs help converting that tension into a sequence of actions, not a celebration of top-line growth.</a:t>
            </a:r>
          </a:p>
          <a:p>
            <a:endParaRPr/>
          </a:p>
          <a:p>
            <a:r>
              <a:t>[Sources]</a:t>
            </a:r>
          </a:p>
          <a:p>
            <a:r>
              <a:t>- README.md — Myanmar SME problem and default distributor golden path</a:t>
            </a:r>
          </a:p>
          <a:p>
            <a:r>
              <a:t>- docs/pitch-and-qa.md — opening contradiction and demo figures</a:t>
            </a:r>
          </a:p>
          <a:p>
            <a:r>
              <a:t>- src/data/profiles.ts — synthetic Aung Mingalar Distribution profile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product as a sequence, not a feature list. The financial engine establishes the facts. The question establishes intent. The answer ranks a bounded set of actions and preserves evidence, so the recommendation can be challenged and explained.</a:t>
            </a:r>
          </a:p>
          <a:p>
            <a:endParaRPr/>
          </a:p>
          <a:p>
            <a:r>
              <a:t>[Sources]</a:t>
            </a:r>
          </a:p>
          <a:p>
            <a:r>
              <a:t>- README.md — solution and golden path</a:t>
            </a:r>
          </a:p>
          <a:p>
            <a:r>
              <a:t>- README.md — deterministic finance and trust boundary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The workspace first surfaces deterministic facts, then keeps the question attached to the selected business, then exposes receivable priorities, the Cash Bridge, and editable sensitivity scenarios. The design goal is auditability, not novelty.</a:t>
            </a:r>
          </a:p>
          <a:p>
            <a:endParaRPr/>
          </a:p>
          <a:p>
            <a:r>
              <a:t>[Sources]</a:t>
            </a:r>
          </a:p>
          <a:p>
            <a:r>
              <a:t>- screenshots/thriveai-overview-desktop.png — product evidence captured from the project runtime</a:t>
            </a:r>
          </a:p>
          <a:p>
            <a:r>
              <a:t>- README.md — core features and solution flow</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core technical argument. AI has a narrow role: interpret intent and rank approved items. TypeScript calculates financial values; the server rebuilds business-scoped evidence; Zod and semantic checks reject unsupported selections. Any failure produces a clearly labeled deterministic fallback.</a:t>
            </a:r>
          </a:p>
          <a:p>
            <a:endParaRPr/>
          </a:p>
          <a:p>
            <a:r>
              <a:t>[Sources]</a:t>
            </a:r>
          </a:p>
          <a:p>
            <a:r>
              <a:t>- README.md — meaningful AI utilization</a:t>
            </a:r>
          </a:p>
          <a:p>
            <a:r>
              <a:t>- README.md — architecture and data flow</a:t>
            </a:r>
          </a:p>
          <a:p>
            <a:r>
              <a:t>- src/lib/ai/prompt.ts — model constraints</a:t>
            </a:r>
          </a:p>
          <a:p>
            <a:r>
              <a:t>- src/lib/ai/analyze.ts — validation and fallback path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is runtime evidence, not a mockup. The product supports Burmese-first interaction and keeps the same deterministic metrics beneath it. In the deployed build captured here, the answer is honestly labeled as a degraded deterministic fallback; do not present model mode as currently live.</a:t>
            </a:r>
          </a:p>
          <a:p>
            <a:endParaRPr/>
          </a:p>
          <a:p>
            <a:r>
              <a:t>[Sources]</a:t>
            </a:r>
          </a:p>
          <a:p>
            <a:r>
              <a:t>- screenshots/thriveai-ai-answer-desktop.png — Burmese answer and fallback-state runtime evidence</a:t>
            </a:r>
          </a:p>
          <a:p>
            <a:r>
              <a:t>- screenshots/thriveai-overview-mobile.png — responsive mobile runtime evidence</a:t>
            </a:r>
          </a:p>
          <a:p>
            <a:r>
              <a:t>- README.md — Burmese-first interface and defensive AI states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precise about what has been proved. The system has three synthetic profiles, 43 passing tests, six editable sensitivity scenarios, and a clean production-dependency audit snapshot. Local lint, typecheck, build, and responsive runtime smoke checks passed. This validates the prototype trust model, not bank production readiness.</a:t>
            </a:r>
          </a:p>
          <a:p>
            <a:endParaRPr/>
          </a:p>
          <a:p>
            <a:r>
              <a:t>[Sources]</a:t>
            </a:r>
          </a:p>
          <a:p>
            <a:r>
              <a:t>- README.md — verification evidence and limitations</a:t>
            </a:r>
          </a:p>
          <a:p>
            <a:r>
              <a:t>- package.json — project quality gates</a:t>
            </a:r>
          </a:p>
          <a:p>
            <a:r>
              <a:t>- tests/ and src/lib/ai/__tests__/ — finance and AI contract tests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protect credibility. The prototype is not a lending system and uses synthetic data. The deployed AI route is currently in deterministic fallback. Most importantly, the current Cash Bridge omits scheduled payables from its headline ending-cash equation; that must be corrected before claiming expansion readiness.</a:t>
            </a:r>
          </a:p>
          <a:p>
            <a:endParaRPr/>
          </a:p>
          <a:p>
            <a:r>
              <a:t>[Sources]</a:t>
            </a:r>
          </a:p>
          <a:p>
            <a:r>
              <a:t>- README.md — explicit limitations and responsible-use boundary</a:t>
            </a:r>
          </a:p>
          <a:p>
            <a:r>
              <a:t>- docs/pitch-and-qa.md — value to a bank and non-underwriting position</a:t>
            </a:r>
          </a:p>
          <a:p>
            <a:r>
              <a:t>- src/lib/finance/cash-bridge.ts — current Cash Bridge inputs</a:t>
            </a:r>
          </a:p>
          <a:p>
            <a:r>
              <a:t>- src/data/profiles.ts — scheduled distributor payables used in audit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 gates, not a speculative calendar. Gate one fixes the method and validates language and finance assumptions. Gate two proves safe utility using consented, de-identified inputs under operational controls. Gate three adds approved integrations only after decision quality and governance are demonstrated.</a:t>
            </a:r>
          </a:p>
          <a:p>
            <a:endParaRPr/>
          </a:p>
          <a:p>
            <a:r>
              <a:t>[Sources]</a:t>
            </a:r>
          </a:p>
          <a:p>
            <a:r>
              <a:t>- README.md — limitations and production requirements</a:t>
            </a:r>
          </a:p>
          <a:p>
            <a:r>
              <a:t>- docs/pitch-and-qa.md — future real-data controls and scale path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 the opening promise. ThriveAI can make SME conversations more concrete by starting from evidence and ending with an explainable action. The next ask is a small, consented, non-underwriting validation pilot—with finance, SME and risk stakeholders involved from the start.</a:t>
            </a:r>
          </a:p>
          <a:p>
            <a:endParaRPr/>
          </a:p>
          <a:p>
            <a:r>
              <a:t>[Sources]</a:t>
            </a:r>
          </a:p>
          <a:p>
            <a:r>
              <a:t>- README.md — product positioning, live deployment, and source repository</a:t>
            </a:r>
          </a:p>
          <a:p>
            <a:r>
              <a:t>- docs/pitch-and-qa.md — value to SME, value to bank, and responsible future path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hriveai-uab.vercel.a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johnsawmin2015-tech/ThriveAI-UAB"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thriveai-uab.vercel.ap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github.com/johnsawmin2015-tech/ThriveAI-UA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rand-rail">
            <a:extLst>
              <a:ext uri="{FF2B5EF4-FFF2-40B4-BE49-F238E27FC236}">
                <a16:creationId xmlns:a16="http://schemas.microsoft.com/office/drawing/2014/main" id="{F7963CD2-1B93-401F-A29A-D5D0943831CA}"/>
              </a:ext>
            </a:extLst>
          </p:cNvPr>
          <p:cNvSpPr>
            <a:spLocks noGrp="1"/>
          </p:cNvSpPr>
          <p:nvPr/>
        </p:nvSpPr>
        <p:spPr>
          <a:xfrm>
            <a:off x="0" y="0"/>
            <a:ext cx="133350" cy="6858000"/>
          </a:xfrm>
          <a:prstGeom prst="rect">
            <a:avLst/>
          </a:prstGeom>
          <a:solidFill>
            <a:srgbClr val="0E6B50"/>
          </a:solidFill>
          <a:ln w="0">
            <a:noFill/>
            <a:prstDash val="solid"/>
          </a:ln>
        </p:spPr>
      </p:sp>
      <p:sp>
        <p:nvSpPr>
          <p:cNvPr id="2" name="title-kicker">
            <a:extLst>
              <a:ext uri="{FF2B5EF4-FFF2-40B4-BE49-F238E27FC236}">
                <a16:creationId xmlns:a16="http://schemas.microsoft.com/office/drawing/2014/main" id="{712E63E7-C49D-4385-85CC-524C1B3311FD}"/>
              </a:ext>
            </a:extLst>
          </p:cNvPr>
          <p:cNvSpPr>
            <a:spLocks noGrp="1"/>
          </p:cNvSpPr>
          <p:nvPr/>
        </p:nvSpPr>
        <p:spPr>
          <a:xfrm>
            <a:off x="590550" y="476250"/>
            <a:ext cx="5334000" cy="266700"/>
          </a:xfrm>
          <a:prstGeom prst="rect">
            <a:avLst/>
          </a:prstGeom>
          <a:noFill/>
          <a:ln w="0">
            <a:noFill/>
            <a:prstDash val="solid"/>
          </a:ln>
        </p:spPr>
        <p:txBody>
          <a:bodyPr wrap="square" lIns="0" tIns="0" rIns="0" bIns="0" anchor="t">
            <a:noAutofit/>
          </a:bodyPr>
          <a:lstStyle/>
          <a:p>
            <a:pPr algn="l">
              <a:lnSpc>
                <a:spcPct val="100000"/>
              </a:lnSpc>
              <a:buNone/>
              <a:defRPr sz="1200" b="1">
                <a:solidFill>
                  <a:srgbClr val="0E6B50"/>
                </a:solidFill>
                <a:latin typeface="Helvetica Neue"/>
                <a:ea typeface="Helvetica Neue"/>
                <a:cs typeface="Helvetica Neue"/>
              </a:defRPr>
            </a:pPr>
            <a:r>
              <a:rPr lang="en-US" sz="1200" b="1" dirty="0">
                <a:solidFill>
                  <a:srgbClr val="0E6B50"/>
                </a:solidFill>
                <a:latin typeface="Helvetica Neue"/>
                <a:ea typeface="Helvetica Neue"/>
                <a:cs typeface="Helvetica Neue"/>
              </a:rPr>
              <a:t>Cursor AI Hackathon</a:t>
            </a:r>
            <a:r>
              <a:rPr sz="1200" b="1" dirty="0">
                <a:solidFill>
                  <a:srgbClr val="0E6B50"/>
                </a:solidFill>
                <a:latin typeface="Helvetica Neue"/>
                <a:ea typeface="Helvetica Neue"/>
                <a:cs typeface="Helvetica Neue"/>
              </a:rPr>
              <a:t> EVENT PRESENTATION</a:t>
            </a:r>
          </a:p>
        </p:txBody>
      </p:sp>
      <p:sp>
        <p:nvSpPr>
          <p:cNvPr id="3" name="title-brand">
            <a:extLst>
              <a:ext uri="{FF2B5EF4-FFF2-40B4-BE49-F238E27FC236}">
                <a16:creationId xmlns:a16="http://schemas.microsoft.com/office/drawing/2014/main" id="{003C3E66-60AB-4CA1-8FA9-D6D4A2227D70}"/>
              </a:ext>
            </a:extLst>
          </p:cNvPr>
          <p:cNvSpPr>
            <a:spLocks noGrp="1"/>
          </p:cNvSpPr>
          <p:nvPr/>
        </p:nvSpPr>
        <p:spPr>
          <a:xfrm>
            <a:off x="590550" y="1676400"/>
            <a:ext cx="7334250" cy="876300"/>
          </a:xfrm>
          <a:prstGeom prst="rect">
            <a:avLst/>
          </a:prstGeom>
          <a:noFill/>
          <a:ln w="0">
            <a:noFill/>
            <a:prstDash val="solid"/>
          </a:ln>
        </p:spPr>
        <p:txBody>
          <a:bodyPr wrap="square" lIns="0" tIns="0" rIns="0" bIns="0" anchor="t">
            <a:noAutofit/>
          </a:bodyPr>
          <a:lstStyle/>
          <a:p>
            <a:pPr algn="l">
              <a:lnSpc>
                <a:spcPct val="100000"/>
              </a:lnSpc>
              <a:buNone/>
              <a:defRPr sz="5850" b="1">
                <a:solidFill>
                  <a:srgbClr val="17211B"/>
                </a:solidFill>
                <a:latin typeface="Helvetica Neue"/>
                <a:ea typeface="Helvetica Neue"/>
                <a:cs typeface="Helvetica Neue"/>
              </a:defRPr>
            </a:pPr>
            <a:r>
              <a:rPr sz="5850" b="1">
                <a:solidFill>
                  <a:srgbClr val="17211B"/>
                </a:solidFill>
                <a:latin typeface="Helvetica Neue"/>
                <a:ea typeface="Helvetica Neue"/>
                <a:cs typeface="Helvetica Neue"/>
              </a:rPr>
              <a:t>ThriveAI</a:t>
            </a:r>
          </a:p>
        </p:txBody>
      </p:sp>
      <p:sp>
        <p:nvSpPr>
          <p:cNvPr id="4" name="title-message">
            <a:extLst>
              <a:ext uri="{FF2B5EF4-FFF2-40B4-BE49-F238E27FC236}">
                <a16:creationId xmlns:a16="http://schemas.microsoft.com/office/drawing/2014/main" id="{1403FD32-0C0D-4321-BD02-C9127B13F7FD}"/>
              </a:ext>
            </a:extLst>
          </p:cNvPr>
          <p:cNvSpPr>
            <a:spLocks noGrp="1"/>
          </p:cNvSpPr>
          <p:nvPr/>
        </p:nvSpPr>
        <p:spPr>
          <a:xfrm>
            <a:off x="590550" y="2781300"/>
            <a:ext cx="8477250" cy="1619250"/>
          </a:xfrm>
          <a:prstGeom prst="rect">
            <a:avLst/>
          </a:prstGeom>
          <a:noFill/>
          <a:ln w="0">
            <a:noFill/>
            <a:prstDash val="solid"/>
          </a:ln>
        </p:spPr>
        <p:txBody>
          <a:bodyPr wrap="square" lIns="0" tIns="0" rIns="0" bIns="0" anchor="t">
            <a:noAutofit/>
          </a:bodyPr>
          <a:lstStyle/>
          <a:p>
            <a:pPr algn="l">
              <a:lnSpc>
                <a:spcPct val="93000"/>
              </a:lnSpc>
              <a:buNone/>
              <a:defRPr sz="3375" b="0">
                <a:solidFill>
                  <a:srgbClr val="17211B"/>
                </a:solidFill>
                <a:latin typeface="Helvetica Neue"/>
                <a:ea typeface="Helvetica Neue"/>
                <a:cs typeface="Helvetica Neue"/>
              </a:defRPr>
            </a:pPr>
            <a:r>
              <a:rPr sz="3375" b="0">
                <a:solidFill>
                  <a:srgbClr val="17211B"/>
                </a:solidFill>
                <a:latin typeface="Helvetica Neue"/>
                <a:ea typeface="Helvetica Neue"/>
                <a:cs typeface="Helvetica Neue"/>
              </a:rPr>
              <a:t>The next financial decision—</a:t>
            </a:r>
          </a:p>
          <a:p>
            <a:pPr algn="l">
              <a:lnSpc>
                <a:spcPct val="93000"/>
              </a:lnSpc>
              <a:buNone/>
              <a:defRPr sz="3375" b="0">
                <a:solidFill>
                  <a:srgbClr val="17211B"/>
                </a:solidFill>
                <a:latin typeface="Helvetica Neue"/>
                <a:ea typeface="Helvetica Neue"/>
                <a:cs typeface="Helvetica Neue"/>
              </a:defRPr>
            </a:pPr>
            <a:r>
              <a:rPr sz="3375" b="0">
                <a:solidFill>
                  <a:srgbClr val="17211B"/>
                </a:solidFill>
                <a:latin typeface="Helvetica Neue"/>
                <a:ea typeface="Helvetica Neue"/>
                <a:cs typeface="Helvetica Neue"/>
              </a:rPr>
              <a:t>explained in the owner’s language.</a:t>
            </a:r>
          </a:p>
        </p:txBody>
      </p:sp>
      <p:sp>
        <p:nvSpPr>
          <p:cNvPr id="5" name="title-subtitle">
            <a:extLst>
              <a:ext uri="{FF2B5EF4-FFF2-40B4-BE49-F238E27FC236}">
                <a16:creationId xmlns:a16="http://schemas.microsoft.com/office/drawing/2014/main" id="{1F1A0795-BA62-498E-A1EB-15F5516F9419}"/>
              </a:ext>
            </a:extLst>
          </p:cNvPr>
          <p:cNvSpPr>
            <a:spLocks noGrp="1"/>
          </p:cNvSpPr>
          <p:nvPr/>
        </p:nvSpPr>
        <p:spPr>
          <a:xfrm>
            <a:off x="609600" y="5067300"/>
            <a:ext cx="7239000" cy="323850"/>
          </a:xfrm>
          <a:prstGeom prst="rect">
            <a:avLst/>
          </a:prstGeom>
          <a:noFill/>
          <a:ln w="0">
            <a:noFill/>
            <a:prstDash val="solid"/>
          </a:ln>
        </p:spPr>
        <p:txBody>
          <a:bodyPr wrap="square" lIns="0" tIns="0" rIns="0" bIns="0" anchor="t">
            <a:noAutofit/>
          </a:bodyPr>
          <a:lstStyle/>
          <a:p>
            <a:pPr algn="l">
              <a:lnSpc>
                <a:spcPct val="100000"/>
              </a:lnSpc>
              <a:buNone/>
              <a:defRPr sz="1650" b="0">
                <a:solidFill>
                  <a:srgbClr val="59665F"/>
                </a:solidFill>
                <a:latin typeface="Helvetica Neue"/>
                <a:ea typeface="Helvetica Neue"/>
                <a:cs typeface="Helvetica Neue"/>
              </a:defRPr>
            </a:pPr>
            <a:r>
              <a:rPr sz="1650" b="0">
                <a:solidFill>
                  <a:srgbClr val="59665F"/>
                </a:solidFill>
                <a:latin typeface="Helvetica Neue"/>
                <a:ea typeface="Helvetica Neue"/>
                <a:cs typeface="Helvetica Neue"/>
              </a:rPr>
              <a:t>Burmese-first • deterministic finance • constrained AI</a:t>
            </a:r>
          </a:p>
        </p:txBody>
      </p:sp>
      <p:sp>
        <p:nvSpPr>
          <p:cNvPr id="6" name="title-index-block">
            <a:extLst>
              <a:ext uri="{FF2B5EF4-FFF2-40B4-BE49-F238E27FC236}">
                <a16:creationId xmlns:a16="http://schemas.microsoft.com/office/drawing/2014/main" id="{5721982A-B6A6-4F77-BA24-BA975A07B09C}"/>
              </a:ext>
            </a:extLst>
          </p:cNvPr>
          <p:cNvSpPr>
            <a:spLocks noGrp="1"/>
          </p:cNvSpPr>
          <p:nvPr/>
        </p:nvSpPr>
        <p:spPr>
          <a:xfrm>
            <a:off x="9944100" y="457200"/>
            <a:ext cx="1638300" cy="1638300"/>
          </a:xfrm>
          <a:prstGeom prst="rect">
            <a:avLst/>
          </a:prstGeom>
          <a:solidFill>
            <a:srgbClr val="E9F3EF"/>
          </a:solidFill>
          <a:ln w="0">
            <a:noFill/>
            <a:prstDash val="solid"/>
          </a:ln>
        </p:spPr>
      </p:sp>
      <p:sp>
        <p:nvSpPr>
          <p:cNvPr id="7" name="title-index">
            <a:extLst>
              <a:ext uri="{FF2B5EF4-FFF2-40B4-BE49-F238E27FC236}">
                <a16:creationId xmlns:a16="http://schemas.microsoft.com/office/drawing/2014/main" id="{CB4575FA-6CB7-4B10-90D4-B5919BF8AE61}"/>
              </a:ext>
            </a:extLst>
          </p:cNvPr>
          <p:cNvSpPr>
            <a:spLocks noGrp="1"/>
          </p:cNvSpPr>
          <p:nvPr/>
        </p:nvSpPr>
        <p:spPr>
          <a:xfrm>
            <a:off x="10229850" y="714375"/>
            <a:ext cx="1066800" cy="876300"/>
          </a:xfrm>
          <a:prstGeom prst="rect">
            <a:avLst/>
          </a:prstGeom>
          <a:noFill/>
          <a:ln w="0">
            <a:noFill/>
            <a:prstDash val="solid"/>
          </a:ln>
        </p:spPr>
        <p:txBody>
          <a:bodyPr wrap="square" lIns="0" tIns="0" rIns="0" bIns="0" anchor="ctr">
            <a:noAutofit/>
          </a:bodyPr>
          <a:lstStyle/>
          <a:p>
            <a:pPr algn="ctr">
              <a:lnSpc>
                <a:spcPct val="100000"/>
              </a:lnSpc>
              <a:buNone/>
              <a:defRPr sz="4800" b="1">
                <a:solidFill>
                  <a:srgbClr val="0E6B50"/>
                </a:solidFill>
                <a:latin typeface="Helvetica Neue"/>
                <a:ea typeface="Helvetica Neue"/>
                <a:cs typeface="Helvetica Neue"/>
              </a:defRPr>
            </a:pPr>
            <a:r>
              <a:rPr sz="4800" b="1">
                <a:solidFill>
                  <a:srgbClr val="0E6B50"/>
                </a:solidFill>
                <a:latin typeface="Helvetica Neue"/>
                <a:ea typeface="Helvetica Neue"/>
                <a:cs typeface="Helvetica Neue"/>
              </a:rPr>
              <a:t>01</a:t>
            </a:r>
          </a:p>
        </p:txBody>
      </p:sp>
      <p:sp>
        <p:nvSpPr>
          <p:cNvPr id="8" name="title-rule">
            <a:extLst>
              <a:ext uri="{FF2B5EF4-FFF2-40B4-BE49-F238E27FC236}">
                <a16:creationId xmlns:a16="http://schemas.microsoft.com/office/drawing/2014/main" id="{4349A95E-286E-4693-99E9-3C37F040C3E9}"/>
              </a:ext>
            </a:extLst>
          </p:cNvPr>
          <p:cNvSpPr>
            <a:spLocks noGrp="1"/>
          </p:cNvSpPr>
          <p:nvPr/>
        </p:nvSpPr>
        <p:spPr>
          <a:xfrm>
            <a:off x="590550" y="5972175"/>
            <a:ext cx="10991850" cy="0"/>
          </a:xfrm>
          <a:prstGeom prst="line">
            <a:avLst/>
          </a:prstGeom>
          <a:noFill/>
          <a:ln w="9525">
            <a:solidFill>
              <a:srgbClr val="D9DED9"/>
            </a:solidFill>
            <a:prstDash val="solid"/>
          </a:ln>
        </p:spPr>
      </p:sp>
      <p:sp>
        <p:nvSpPr>
          <p:cNvPr id="9" name="title-links">
            <a:extLst>
              <a:ext uri="{FF2B5EF4-FFF2-40B4-BE49-F238E27FC236}">
                <a16:creationId xmlns:a16="http://schemas.microsoft.com/office/drawing/2014/main" id="{14512AB0-F63F-4DFD-84F7-6AD773C15F59}"/>
              </a:ext>
            </a:extLst>
          </p:cNvPr>
          <p:cNvSpPr>
            <a:spLocks noGrp="1"/>
          </p:cNvSpPr>
          <p:nvPr/>
        </p:nvSpPr>
        <p:spPr>
          <a:xfrm>
            <a:off x="590550" y="6200775"/>
            <a:ext cx="8572500" cy="228600"/>
          </a:xfrm>
          <a:prstGeom prst="rect">
            <a:avLst/>
          </a:prstGeom>
          <a:noFill/>
          <a:ln w="0">
            <a:noFill/>
            <a:prstDash val="solid"/>
          </a:ln>
        </p:spPr>
        <p:txBody>
          <a:bodyPr wrap="square" lIns="0" tIns="0" rIns="0" bIns="0" anchor="t">
            <a:noAutofit/>
          </a:bodyPr>
          <a:lstStyle/>
          <a:p>
            <a:pPr algn="l">
              <a:lnSpc>
                <a:spcPct val="100000"/>
              </a:lnSpc>
              <a:buNone/>
              <a:defRPr sz="1050" b="0">
                <a:solidFill>
                  <a:srgbClr val="17211B"/>
                </a:solidFill>
                <a:latin typeface="Helvetica Neue"/>
                <a:ea typeface="Helvetica Neue"/>
                <a:cs typeface="Helvetica Neue"/>
              </a:defRPr>
            </a:pPr>
            <a:r>
              <a:rPr sz="1050" b="1">
                <a:solidFill>
                  <a:srgbClr val="17211B"/>
                </a:solidFill>
                <a:latin typeface="Helvetica Neue"/>
                <a:ea typeface="Helvetica Neue"/>
                <a:cs typeface="Helvetica Neue"/>
                <a:hlinkClick r:id="rId3"/>
              </a:rPr>
              <a:t>LIVE DEMO</a:t>
            </a:r>
            <a:r>
              <a:rPr sz="1050" b="0">
                <a:solidFill>
                  <a:srgbClr val="17211B"/>
                </a:solidFill>
                <a:latin typeface="Helvetica Neue"/>
                <a:ea typeface="Helvetica Neue"/>
                <a:cs typeface="Helvetica Neue"/>
              </a:rPr>
              <a:t>   •   </a:t>
            </a:r>
            <a:r>
              <a:rPr sz="1050" b="1">
                <a:solidFill>
                  <a:srgbClr val="17211B"/>
                </a:solidFill>
                <a:latin typeface="Helvetica Neue"/>
                <a:ea typeface="Helvetica Neue"/>
                <a:cs typeface="Helvetica Neue"/>
                <a:hlinkClick r:id="rId4"/>
              </a:rPr>
              <a:t>SOURCE</a:t>
            </a:r>
          </a:p>
        </p:txBody>
      </p:sp>
    </p:spTree>
    <p:extLst>
      <p:ext uri="{BB962C8B-B14F-4D97-AF65-F5344CB8AC3E}">
        <p14:creationId xmlns:p14="http://schemas.microsoft.com/office/powerpoint/2010/main" val="1824649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eyebrow-2">
            <a:extLst>
              <a:ext uri="{FF2B5EF4-FFF2-40B4-BE49-F238E27FC236}">
                <a16:creationId xmlns:a16="http://schemas.microsoft.com/office/drawing/2014/main" id="{E90A0B7F-A27F-4DF3-96E7-B0C4E5269108}"/>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2">
            <a:extLst>
              <a:ext uri="{FF2B5EF4-FFF2-40B4-BE49-F238E27FC236}">
                <a16:creationId xmlns:a16="http://schemas.microsoft.com/office/drawing/2014/main" id="{65DB3DB6-458B-4B5A-B3A8-F674A69A2770}"/>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Revenue is growing. Liquidity is tightening.</a:t>
            </a:r>
          </a:p>
        </p:txBody>
      </p:sp>
      <p:sp>
        <p:nvSpPr>
          <p:cNvPr id="3" name="header-rule-2">
            <a:extLst>
              <a:ext uri="{FF2B5EF4-FFF2-40B4-BE49-F238E27FC236}">
                <a16:creationId xmlns:a16="http://schemas.microsoft.com/office/drawing/2014/main" id="{0B655013-0C21-4157-B9AA-098430BA3CC1}"/>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2">
            <a:extLst>
              <a:ext uri="{FF2B5EF4-FFF2-40B4-BE49-F238E27FC236}">
                <a16:creationId xmlns:a16="http://schemas.microsoft.com/office/drawing/2014/main" id="{35C556B9-AB88-4B77-8C38-901B5C46595D}"/>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02</a:t>
            </a:r>
          </a:p>
        </p:txBody>
      </p:sp>
      <p:sp>
        <p:nvSpPr>
          <p:cNvPr id="5" name="problem-copy">
            <a:extLst>
              <a:ext uri="{FF2B5EF4-FFF2-40B4-BE49-F238E27FC236}">
                <a16:creationId xmlns:a16="http://schemas.microsoft.com/office/drawing/2014/main" id="{799BDC63-7EB4-4733-B441-C6A0BC1F3AAD}"/>
              </a:ext>
            </a:extLst>
          </p:cNvPr>
          <p:cNvSpPr>
            <a:spLocks noGrp="1"/>
          </p:cNvSpPr>
          <p:nvPr/>
        </p:nvSpPr>
        <p:spPr>
          <a:xfrm>
            <a:off x="457200" y="1657350"/>
            <a:ext cx="8572500" cy="419100"/>
          </a:xfrm>
          <a:prstGeom prst="rect">
            <a:avLst/>
          </a:prstGeom>
          <a:noFill/>
          <a:ln w="0">
            <a:noFill/>
            <a:prstDash val="solid"/>
          </a:ln>
        </p:spPr>
        <p:txBody>
          <a:bodyPr wrap="square" lIns="0" tIns="0" rIns="0" bIns="0" anchor="t">
            <a:noAutofit/>
          </a:bodyPr>
          <a:lstStyle/>
          <a:p>
            <a:pPr algn="l">
              <a:lnSpc>
                <a:spcPct val="100000"/>
              </a:lnSpc>
              <a:buNone/>
              <a:defRPr sz="1650" b="0">
                <a:solidFill>
                  <a:srgbClr val="59665F"/>
                </a:solidFill>
                <a:latin typeface="Helvetica Neue"/>
                <a:ea typeface="Helvetica Neue"/>
                <a:cs typeface="Helvetica Neue"/>
              </a:defRPr>
            </a:pPr>
            <a:r>
              <a:rPr sz="1650" b="0">
                <a:solidFill>
                  <a:srgbClr val="59665F"/>
                </a:solidFill>
                <a:latin typeface="Helvetica Neue"/>
                <a:ea typeface="Helvetica Neue"/>
                <a:cs typeface="Helvetica Neue"/>
              </a:rPr>
              <a:t>Aung Mingalar Distribution looks healthy at first glance. The cash position tells a different story.</a:t>
            </a:r>
          </a:p>
        </p:txBody>
      </p:sp>
      <p:sp>
        <p:nvSpPr>
          <p:cNvPr id="6" name="metric-label-0">
            <a:extLst>
              <a:ext uri="{FF2B5EF4-FFF2-40B4-BE49-F238E27FC236}">
                <a16:creationId xmlns:a16="http://schemas.microsoft.com/office/drawing/2014/main" id="{74CEA755-5041-4D40-9A7A-AEFBA1EB461C}"/>
              </a:ext>
            </a:extLst>
          </p:cNvPr>
          <p:cNvSpPr>
            <a:spLocks noGrp="1"/>
          </p:cNvSpPr>
          <p:nvPr/>
        </p:nvSpPr>
        <p:spPr>
          <a:xfrm>
            <a:off x="457200" y="2409825"/>
            <a:ext cx="1762125" cy="228600"/>
          </a:xfrm>
          <a:prstGeom prst="rect">
            <a:avLst/>
          </a:prstGeom>
          <a:noFill/>
          <a:ln w="0">
            <a:noFill/>
            <a:prstDash val="solid"/>
          </a:ln>
        </p:spPr>
        <p:txBody>
          <a:bodyPr wrap="square" lIns="0" tIns="0" rIns="0" bIns="0" anchor="t">
            <a:noAutofit/>
          </a:bodyPr>
          <a:lstStyle/>
          <a:p>
            <a:pPr algn="l">
              <a:lnSpc>
                <a:spcPct val="100000"/>
              </a:lnSpc>
              <a:buNone/>
              <a:defRPr sz="1275" b="1">
                <a:solidFill>
                  <a:srgbClr val="59665F"/>
                </a:solidFill>
                <a:latin typeface="Helvetica Neue"/>
                <a:ea typeface="Helvetica Neue"/>
                <a:cs typeface="Helvetica Neue"/>
              </a:defRPr>
            </a:pPr>
            <a:r>
              <a:rPr sz="1275" b="1">
                <a:solidFill>
                  <a:srgbClr val="59665F"/>
                </a:solidFill>
                <a:latin typeface="Helvetica Neue"/>
                <a:ea typeface="Helvetica Neue"/>
                <a:cs typeface="Helvetica Neue"/>
              </a:rPr>
              <a:t>Latest revenue</a:t>
            </a:r>
          </a:p>
        </p:txBody>
      </p:sp>
      <p:sp>
        <p:nvSpPr>
          <p:cNvPr id="7" name="metric-value-0">
            <a:extLst>
              <a:ext uri="{FF2B5EF4-FFF2-40B4-BE49-F238E27FC236}">
                <a16:creationId xmlns:a16="http://schemas.microsoft.com/office/drawing/2014/main" id="{2D2296E5-F856-4A42-A966-7F5EF2D5EE6F}"/>
              </a:ext>
            </a:extLst>
          </p:cNvPr>
          <p:cNvSpPr>
            <a:spLocks noGrp="1"/>
          </p:cNvSpPr>
          <p:nvPr/>
        </p:nvSpPr>
        <p:spPr>
          <a:xfrm>
            <a:off x="2324100" y="2333625"/>
            <a:ext cx="2143125" cy="400050"/>
          </a:xfrm>
          <a:prstGeom prst="rect">
            <a:avLst/>
          </a:prstGeom>
          <a:noFill/>
          <a:ln w="0">
            <a:noFill/>
            <a:prstDash val="solid"/>
          </a:ln>
        </p:spPr>
        <p:txBody>
          <a:bodyPr wrap="square" lIns="0" tIns="0" rIns="0" bIns="0" anchor="t">
            <a:noAutofit/>
          </a:bodyPr>
          <a:lstStyle/>
          <a:p>
            <a:pPr algn="l">
              <a:lnSpc>
                <a:spcPct val="100000"/>
              </a:lnSpc>
              <a:buNone/>
              <a:defRPr sz="2175" b="1">
                <a:solidFill>
                  <a:srgbClr val="17211B"/>
                </a:solidFill>
                <a:latin typeface="Helvetica Neue"/>
                <a:ea typeface="Helvetica Neue"/>
                <a:cs typeface="Helvetica Neue"/>
              </a:defRPr>
            </a:pPr>
            <a:r>
              <a:rPr sz="2175" b="1">
                <a:solidFill>
                  <a:srgbClr val="17211B"/>
                </a:solidFill>
                <a:latin typeface="Helvetica Neue"/>
                <a:ea typeface="Helvetica Neue"/>
                <a:cs typeface="Helvetica Neue"/>
              </a:rPr>
              <a:t>MMK 42.8M</a:t>
            </a:r>
          </a:p>
        </p:txBody>
      </p:sp>
      <p:sp>
        <p:nvSpPr>
          <p:cNvPr id="8" name="bar-track-0">
            <a:extLst>
              <a:ext uri="{FF2B5EF4-FFF2-40B4-BE49-F238E27FC236}">
                <a16:creationId xmlns:a16="http://schemas.microsoft.com/office/drawing/2014/main" id="{3B798811-D936-4959-9D40-1B6A5E25C12B}"/>
              </a:ext>
            </a:extLst>
          </p:cNvPr>
          <p:cNvSpPr>
            <a:spLocks noGrp="1"/>
          </p:cNvSpPr>
          <p:nvPr/>
        </p:nvSpPr>
        <p:spPr>
          <a:xfrm>
            <a:off x="4686300" y="2438400"/>
            <a:ext cx="4953000" cy="171450"/>
          </a:xfrm>
          <a:prstGeom prst="rect">
            <a:avLst/>
          </a:prstGeom>
          <a:solidFill>
            <a:srgbClr val="EDEDED"/>
          </a:solidFill>
          <a:ln w="0">
            <a:noFill/>
            <a:prstDash val="solid"/>
          </a:ln>
        </p:spPr>
      </p:sp>
      <p:sp>
        <p:nvSpPr>
          <p:cNvPr id="9" name="bar-fill-0">
            <a:extLst>
              <a:ext uri="{FF2B5EF4-FFF2-40B4-BE49-F238E27FC236}">
                <a16:creationId xmlns:a16="http://schemas.microsoft.com/office/drawing/2014/main" id="{450FCEE0-885A-4E37-8588-3A2F18CF89E4}"/>
              </a:ext>
            </a:extLst>
          </p:cNvPr>
          <p:cNvSpPr>
            <a:spLocks noGrp="1"/>
          </p:cNvSpPr>
          <p:nvPr/>
        </p:nvSpPr>
        <p:spPr>
          <a:xfrm>
            <a:off x="4686300" y="2438400"/>
            <a:ext cx="4953000" cy="171450"/>
          </a:xfrm>
          <a:prstGeom prst="rect">
            <a:avLst/>
          </a:prstGeom>
          <a:solidFill>
            <a:srgbClr val="0E6B50"/>
          </a:solidFill>
          <a:ln w="0">
            <a:noFill/>
            <a:prstDash val="solid"/>
          </a:ln>
        </p:spPr>
      </p:sp>
      <p:sp>
        <p:nvSpPr>
          <p:cNvPr id="10" name="metric-sub-0">
            <a:extLst>
              <a:ext uri="{FF2B5EF4-FFF2-40B4-BE49-F238E27FC236}">
                <a16:creationId xmlns:a16="http://schemas.microsoft.com/office/drawing/2014/main" id="{A91EF7EB-F0EC-47B8-BF91-F18295A69728}"/>
              </a:ext>
            </a:extLst>
          </p:cNvPr>
          <p:cNvSpPr>
            <a:spLocks noGrp="1"/>
          </p:cNvSpPr>
          <p:nvPr/>
        </p:nvSpPr>
        <p:spPr>
          <a:xfrm>
            <a:off x="9848850" y="2390775"/>
            <a:ext cx="1733550" cy="314325"/>
          </a:xfrm>
          <a:prstGeom prst="rect">
            <a:avLst/>
          </a:prstGeom>
          <a:noFill/>
          <a:ln w="0">
            <a:noFill/>
            <a:prstDash val="solid"/>
          </a:ln>
        </p:spPr>
        <p:txBody>
          <a:bodyPr wrap="square" lIns="0" tIns="0" rIns="0" bIns="0" anchor="t">
            <a:normAutofit/>
          </a:bodyPr>
          <a:lstStyle/>
          <a:p>
            <a:pPr algn="l">
              <a:lnSpc>
                <a:spcPct val="100000"/>
              </a:lnSpc>
              <a:buNone/>
              <a:defRPr sz="1125" b="0">
                <a:solidFill>
                  <a:srgbClr val="59665F"/>
                </a:solidFill>
                <a:latin typeface="Helvetica Neue"/>
                <a:ea typeface="Helvetica Neue"/>
                <a:cs typeface="Helvetica Neue"/>
              </a:defRPr>
            </a:pPr>
            <a:r>
              <a:rPr sz="1125" b="0">
                <a:solidFill>
                  <a:srgbClr val="59665F"/>
                </a:solidFill>
                <a:latin typeface="Helvetica Neue"/>
                <a:ea typeface="Helvetica Neue"/>
                <a:cs typeface="Helvetica Neue"/>
              </a:rPr>
              <a:t>+14% month on month</a:t>
            </a:r>
          </a:p>
        </p:txBody>
      </p:sp>
      <p:sp>
        <p:nvSpPr>
          <p:cNvPr id="11" name="metric-label-1">
            <a:extLst>
              <a:ext uri="{FF2B5EF4-FFF2-40B4-BE49-F238E27FC236}">
                <a16:creationId xmlns:a16="http://schemas.microsoft.com/office/drawing/2014/main" id="{F6DDB55C-9F68-404D-BE23-0B86C6BEA0BF}"/>
              </a:ext>
            </a:extLst>
          </p:cNvPr>
          <p:cNvSpPr>
            <a:spLocks noGrp="1"/>
          </p:cNvSpPr>
          <p:nvPr/>
        </p:nvSpPr>
        <p:spPr>
          <a:xfrm>
            <a:off x="457200" y="3276600"/>
            <a:ext cx="1762125" cy="228600"/>
          </a:xfrm>
          <a:prstGeom prst="rect">
            <a:avLst/>
          </a:prstGeom>
          <a:noFill/>
          <a:ln w="0">
            <a:noFill/>
            <a:prstDash val="solid"/>
          </a:ln>
        </p:spPr>
        <p:txBody>
          <a:bodyPr wrap="square" lIns="0" tIns="0" rIns="0" bIns="0" anchor="t">
            <a:noAutofit/>
          </a:bodyPr>
          <a:lstStyle/>
          <a:p>
            <a:pPr algn="l">
              <a:lnSpc>
                <a:spcPct val="100000"/>
              </a:lnSpc>
              <a:buNone/>
              <a:defRPr sz="1275" b="1">
                <a:solidFill>
                  <a:srgbClr val="59665F"/>
                </a:solidFill>
                <a:latin typeface="Helvetica Neue"/>
                <a:ea typeface="Helvetica Neue"/>
                <a:cs typeface="Helvetica Neue"/>
              </a:defRPr>
            </a:pPr>
            <a:r>
              <a:rPr sz="1275" b="1">
                <a:solidFill>
                  <a:srgbClr val="59665F"/>
                </a:solidFill>
                <a:latin typeface="Helvetica Neue"/>
                <a:ea typeface="Helvetica Neue"/>
                <a:cs typeface="Helvetica Neue"/>
              </a:rPr>
              <a:t>Receivables</a:t>
            </a:r>
          </a:p>
        </p:txBody>
      </p:sp>
      <p:sp>
        <p:nvSpPr>
          <p:cNvPr id="12" name="metric-value-1">
            <a:extLst>
              <a:ext uri="{FF2B5EF4-FFF2-40B4-BE49-F238E27FC236}">
                <a16:creationId xmlns:a16="http://schemas.microsoft.com/office/drawing/2014/main" id="{CE9BC3EC-5976-4AD0-9D81-54CA956F5523}"/>
              </a:ext>
            </a:extLst>
          </p:cNvPr>
          <p:cNvSpPr>
            <a:spLocks noGrp="1"/>
          </p:cNvSpPr>
          <p:nvPr/>
        </p:nvSpPr>
        <p:spPr>
          <a:xfrm>
            <a:off x="2324100" y="3200400"/>
            <a:ext cx="2143125" cy="400050"/>
          </a:xfrm>
          <a:prstGeom prst="rect">
            <a:avLst/>
          </a:prstGeom>
          <a:noFill/>
          <a:ln w="0">
            <a:noFill/>
            <a:prstDash val="solid"/>
          </a:ln>
        </p:spPr>
        <p:txBody>
          <a:bodyPr wrap="square" lIns="0" tIns="0" rIns="0" bIns="0" anchor="t">
            <a:noAutofit/>
          </a:bodyPr>
          <a:lstStyle/>
          <a:p>
            <a:pPr algn="l">
              <a:lnSpc>
                <a:spcPct val="100000"/>
              </a:lnSpc>
              <a:buNone/>
              <a:defRPr sz="2175" b="1">
                <a:solidFill>
                  <a:srgbClr val="17211B"/>
                </a:solidFill>
                <a:latin typeface="Helvetica Neue"/>
                <a:ea typeface="Helvetica Neue"/>
                <a:cs typeface="Helvetica Neue"/>
              </a:defRPr>
            </a:pPr>
            <a:r>
              <a:rPr sz="2175" b="1">
                <a:solidFill>
                  <a:srgbClr val="17211B"/>
                </a:solidFill>
                <a:latin typeface="Helvetica Neue"/>
                <a:ea typeface="Helvetica Neue"/>
                <a:cs typeface="Helvetica Neue"/>
              </a:rPr>
              <a:t>MMK 12.0M</a:t>
            </a:r>
          </a:p>
        </p:txBody>
      </p:sp>
      <p:sp>
        <p:nvSpPr>
          <p:cNvPr id="13" name="bar-track-1">
            <a:extLst>
              <a:ext uri="{FF2B5EF4-FFF2-40B4-BE49-F238E27FC236}">
                <a16:creationId xmlns:a16="http://schemas.microsoft.com/office/drawing/2014/main" id="{F4378B9F-3A0F-45C5-B60D-33DF6A254190}"/>
              </a:ext>
            </a:extLst>
          </p:cNvPr>
          <p:cNvSpPr>
            <a:spLocks noGrp="1"/>
          </p:cNvSpPr>
          <p:nvPr/>
        </p:nvSpPr>
        <p:spPr>
          <a:xfrm>
            <a:off x="4686300" y="3305175"/>
            <a:ext cx="4953000" cy="171450"/>
          </a:xfrm>
          <a:prstGeom prst="rect">
            <a:avLst/>
          </a:prstGeom>
          <a:solidFill>
            <a:srgbClr val="EDEDED"/>
          </a:solidFill>
          <a:ln w="0">
            <a:noFill/>
            <a:prstDash val="solid"/>
          </a:ln>
        </p:spPr>
      </p:sp>
      <p:sp>
        <p:nvSpPr>
          <p:cNvPr id="14" name="bar-fill-1">
            <a:extLst>
              <a:ext uri="{FF2B5EF4-FFF2-40B4-BE49-F238E27FC236}">
                <a16:creationId xmlns:a16="http://schemas.microsoft.com/office/drawing/2014/main" id="{8C899C83-0EA9-4DB1-A371-0B26D2654BBC}"/>
              </a:ext>
            </a:extLst>
          </p:cNvPr>
          <p:cNvSpPr>
            <a:spLocks noGrp="1"/>
          </p:cNvSpPr>
          <p:nvPr/>
        </p:nvSpPr>
        <p:spPr>
          <a:xfrm>
            <a:off x="4686300" y="3305175"/>
            <a:ext cx="1388692" cy="171450"/>
          </a:xfrm>
          <a:prstGeom prst="rect">
            <a:avLst/>
          </a:prstGeom>
          <a:solidFill>
            <a:srgbClr val="3A7D67"/>
          </a:solidFill>
          <a:ln w="0">
            <a:noFill/>
            <a:prstDash val="solid"/>
          </a:ln>
        </p:spPr>
      </p:sp>
      <p:sp>
        <p:nvSpPr>
          <p:cNvPr id="15" name="metric-sub-1">
            <a:extLst>
              <a:ext uri="{FF2B5EF4-FFF2-40B4-BE49-F238E27FC236}">
                <a16:creationId xmlns:a16="http://schemas.microsoft.com/office/drawing/2014/main" id="{3BBE518E-2183-4C5C-9A2D-83C30D25B0AC}"/>
              </a:ext>
            </a:extLst>
          </p:cNvPr>
          <p:cNvSpPr>
            <a:spLocks noGrp="1"/>
          </p:cNvSpPr>
          <p:nvPr/>
        </p:nvSpPr>
        <p:spPr>
          <a:xfrm>
            <a:off x="9848850" y="3257550"/>
            <a:ext cx="1733550" cy="314325"/>
          </a:xfrm>
          <a:prstGeom prst="rect">
            <a:avLst/>
          </a:prstGeom>
          <a:noFill/>
          <a:ln w="0">
            <a:noFill/>
            <a:prstDash val="solid"/>
          </a:ln>
        </p:spPr>
        <p:txBody>
          <a:bodyPr wrap="square" lIns="0" tIns="0" rIns="0" bIns="0" anchor="t">
            <a:normAutofit fontScale="91667"/>
          </a:bodyPr>
          <a:lstStyle/>
          <a:p>
            <a:pPr algn="l">
              <a:lnSpc>
                <a:spcPct val="100000"/>
              </a:lnSpc>
              <a:buNone/>
              <a:defRPr sz="1125" b="0">
                <a:solidFill>
                  <a:srgbClr val="59665F"/>
                </a:solidFill>
                <a:latin typeface="Helvetica Neue"/>
                <a:ea typeface="Helvetica Neue"/>
                <a:cs typeface="Helvetica Neue"/>
              </a:defRPr>
            </a:pPr>
            <a:r>
              <a:rPr sz="1125" b="0">
                <a:solidFill>
                  <a:srgbClr val="59665F"/>
                </a:solidFill>
                <a:latin typeface="Helvetica Neue"/>
                <a:ea typeface="Helvetica Neue"/>
                <a:cs typeface="Helvetica Neue"/>
              </a:rPr>
              <a:t>Cash still outside the business</a:t>
            </a:r>
          </a:p>
        </p:txBody>
      </p:sp>
      <p:sp>
        <p:nvSpPr>
          <p:cNvPr id="16" name="metric-label-2">
            <a:extLst>
              <a:ext uri="{FF2B5EF4-FFF2-40B4-BE49-F238E27FC236}">
                <a16:creationId xmlns:a16="http://schemas.microsoft.com/office/drawing/2014/main" id="{881DA529-2EEB-4903-B71A-10A6E39B2689}"/>
              </a:ext>
            </a:extLst>
          </p:cNvPr>
          <p:cNvSpPr>
            <a:spLocks noGrp="1"/>
          </p:cNvSpPr>
          <p:nvPr/>
        </p:nvSpPr>
        <p:spPr>
          <a:xfrm>
            <a:off x="457200" y="4143375"/>
            <a:ext cx="1762125" cy="228600"/>
          </a:xfrm>
          <a:prstGeom prst="rect">
            <a:avLst/>
          </a:prstGeom>
          <a:noFill/>
          <a:ln w="0">
            <a:noFill/>
            <a:prstDash val="solid"/>
          </a:ln>
        </p:spPr>
        <p:txBody>
          <a:bodyPr wrap="square" lIns="0" tIns="0" rIns="0" bIns="0" anchor="t">
            <a:noAutofit/>
          </a:bodyPr>
          <a:lstStyle/>
          <a:p>
            <a:pPr algn="l">
              <a:lnSpc>
                <a:spcPct val="100000"/>
              </a:lnSpc>
              <a:buNone/>
              <a:defRPr sz="1275" b="1">
                <a:solidFill>
                  <a:srgbClr val="59665F"/>
                </a:solidFill>
                <a:latin typeface="Helvetica Neue"/>
                <a:ea typeface="Helvetica Neue"/>
                <a:cs typeface="Helvetica Neue"/>
              </a:defRPr>
            </a:pPr>
            <a:r>
              <a:rPr sz="1275" b="1">
                <a:solidFill>
                  <a:srgbClr val="59665F"/>
                </a:solidFill>
                <a:latin typeface="Helvetica Neue"/>
                <a:ea typeface="Helvetica Neue"/>
                <a:cs typeface="Helvetica Neue"/>
              </a:rPr>
              <a:t>Payables</a:t>
            </a:r>
          </a:p>
        </p:txBody>
      </p:sp>
      <p:sp>
        <p:nvSpPr>
          <p:cNvPr id="17" name="metric-value-2">
            <a:extLst>
              <a:ext uri="{FF2B5EF4-FFF2-40B4-BE49-F238E27FC236}">
                <a16:creationId xmlns:a16="http://schemas.microsoft.com/office/drawing/2014/main" id="{A0B092FD-0C6E-4EEF-979A-CF7DB23C41CA}"/>
              </a:ext>
            </a:extLst>
          </p:cNvPr>
          <p:cNvSpPr>
            <a:spLocks noGrp="1"/>
          </p:cNvSpPr>
          <p:nvPr/>
        </p:nvSpPr>
        <p:spPr>
          <a:xfrm>
            <a:off x="2324100" y="4067175"/>
            <a:ext cx="2143125" cy="400050"/>
          </a:xfrm>
          <a:prstGeom prst="rect">
            <a:avLst/>
          </a:prstGeom>
          <a:noFill/>
          <a:ln w="0">
            <a:noFill/>
            <a:prstDash val="solid"/>
          </a:ln>
        </p:spPr>
        <p:txBody>
          <a:bodyPr wrap="square" lIns="0" tIns="0" rIns="0" bIns="0" anchor="t">
            <a:noAutofit/>
          </a:bodyPr>
          <a:lstStyle/>
          <a:p>
            <a:pPr algn="l">
              <a:lnSpc>
                <a:spcPct val="100000"/>
              </a:lnSpc>
              <a:buNone/>
              <a:defRPr sz="2175" b="1">
                <a:solidFill>
                  <a:srgbClr val="17211B"/>
                </a:solidFill>
                <a:latin typeface="Helvetica Neue"/>
                <a:ea typeface="Helvetica Neue"/>
                <a:cs typeface="Helvetica Neue"/>
              </a:defRPr>
            </a:pPr>
            <a:r>
              <a:rPr sz="2175" b="1">
                <a:solidFill>
                  <a:srgbClr val="17211B"/>
                </a:solidFill>
                <a:latin typeface="Helvetica Neue"/>
                <a:ea typeface="Helvetica Neue"/>
                <a:cs typeface="Helvetica Neue"/>
              </a:rPr>
              <a:t>MMK 9.6M</a:t>
            </a:r>
          </a:p>
        </p:txBody>
      </p:sp>
      <p:sp>
        <p:nvSpPr>
          <p:cNvPr id="18" name="bar-track-2">
            <a:extLst>
              <a:ext uri="{FF2B5EF4-FFF2-40B4-BE49-F238E27FC236}">
                <a16:creationId xmlns:a16="http://schemas.microsoft.com/office/drawing/2014/main" id="{F904E731-4365-4EE2-AE10-C0B33F16CCEF}"/>
              </a:ext>
            </a:extLst>
          </p:cNvPr>
          <p:cNvSpPr>
            <a:spLocks noGrp="1"/>
          </p:cNvSpPr>
          <p:nvPr/>
        </p:nvSpPr>
        <p:spPr>
          <a:xfrm>
            <a:off x="4686300" y="4171950"/>
            <a:ext cx="4953000" cy="171450"/>
          </a:xfrm>
          <a:prstGeom prst="rect">
            <a:avLst/>
          </a:prstGeom>
          <a:solidFill>
            <a:srgbClr val="EDEDED"/>
          </a:solidFill>
          <a:ln w="0">
            <a:noFill/>
            <a:prstDash val="solid"/>
          </a:ln>
        </p:spPr>
      </p:sp>
      <p:sp>
        <p:nvSpPr>
          <p:cNvPr id="19" name="bar-fill-2">
            <a:extLst>
              <a:ext uri="{FF2B5EF4-FFF2-40B4-BE49-F238E27FC236}">
                <a16:creationId xmlns:a16="http://schemas.microsoft.com/office/drawing/2014/main" id="{2BA31E01-D407-4A78-970F-E7715C7B017F}"/>
              </a:ext>
            </a:extLst>
          </p:cNvPr>
          <p:cNvSpPr>
            <a:spLocks noGrp="1"/>
          </p:cNvSpPr>
          <p:nvPr/>
        </p:nvSpPr>
        <p:spPr>
          <a:xfrm>
            <a:off x="4686300" y="4171950"/>
            <a:ext cx="1110953" cy="171450"/>
          </a:xfrm>
          <a:prstGeom prst="rect">
            <a:avLst/>
          </a:prstGeom>
          <a:solidFill>
            <a:srgbClr val="A82B22"/>
          </a:solidFill>
          <a:ln w="0">
            <a:noFill/>
            <a:prstDash val="solid"/>
          </a:ln>
        </p:spPr>
      </p:sp>
      <p:sp>
        <p:nvSpPr>
          <p:cNvPr id="20" name="metric-sub-2">
            <a:extLst>
              <a:ext uri="{FF2B5EF4-FFF2-40B4-BE49-F238E27FC236}">
                <a16:creationId xmlns:a16="http://schemas.microsoft.com/office/drawing/2014/main" id="{87A466F6-A5B2-479E-8C24-37295701548A}"/>
              </a:ext>
            </a:extLst>
          </p:cNvPr>
          <p:cNvSpPr>
            <a:spLocks noGrp="1"/>
          </p:cNvSpPr>
          <p:nvPr/>
        </p:nvSpPr>
        <p:spPr>
          <a:xfrm>
            <a:off x="9848850" y="4124325"/>
            <a:ext cx="1733550" cy="314325"/>
          </a:xfrm>
          <a:prstGeom prst="rect">
            <a:avLst/>
          </a:prstGeom>
          <a:noFill/>
          <a:ln w="0">
            <a:noFill/>
            <a:prstDash val="solid"/>
          </a:ln>
        </p:spPr>
        <p:txBody>
          <a:bodyPr wrap="square" lIns="0" tIns="0" rIns="0" bIns="0" anchor="t">
            <a:normAutofit fontScale="97450"/>
          </a:bodyPr>
          <a:lstStyle/>
          <a:p>
            <a:pPr algn="l">
              <a:lnSpc>
                <a:spcPct val="100000"/>
              </a:lnSpc>
              <a:buNone/>
              <a:defRPr sz="1125" b="0">
                <a:solidFill>
                  <a:srgbClr val="59665F"/>
                </a:solidFill>
                <a:latin typeface="Helvetica Neue"/>
                <a:ea typeface="Helvetica Neue"/>
                <a:cs typeface="Helvetica Neue"/>
              </a:defRPr>
            </a:pPr>
            <a:r>
              <a:rPr sz="1125" b="0">
                <a:solidFill>
                  <a:srgbClr val="59665F"/>
                </a:solidFill>
                <a:latin typeface="Helvetica Neue"/>
                <a:ea typeface="Helvetica Neue"/>
                <a:cs typeface="Helvetica Neue"/>
              </a:rPr>
              <a:t>Near-term supplier pressure</a:t>
            </a:r>
          </a:p>
        </p:txBody>
      </p:sp>
      <p:sp>
        <p:nvSpPr>
          <p:cNvPr id="21" name="metric-label-3">
            <a:extLst>
              <a:ext uri="{FF2B5EF4-FFF2-40B4-BE49-F238E27FC236}">
                <a16:creationId xmlns:a16="http://schemas.microsoft.com/office/drawing/2014/main" id="{389A466D-9D58-4E61-B913-C11D95536971}"/>
              </a:ext>
            </a:extLst>
          </p:cNvPr>
          <p:cNvSpPr>
            <a:spLocks noGrp="1"/>
          </p:cNvSpPr>
          <p:nvPr/>
        </p:nvSpPr>
        <p:spPr>
          <a:xfrm>
            <a:off x="457200" y="5010150"/>
            <a:ext cx="1762125" cy="228600"/>
          </a:xfrm>
          <a:prstGeom prst="rect">
            <a:avLst/>
          </a:prstGeom>
          <a:noFill/>
          <a:ln w="0">
            <a:noFill/>
            <a:prstDash val="solid"/>
          </a:ln>
        </p:spPr>
        <p:txBody>
          <a:bodyPr wrap="square" lIns="0" tIns="0" rIns="0" bIns="0" anchor="t">
            <a:noAutofit/>
          </a:bodyPr>
          <a:lstStyle/>
          <a:p>
            <a:pPr algn="l">
              <a:lnSpc>
                <a:spcPct val="100000"/>
              </a:lnSpc>
              <a:buNone/>
              <a:defRPr sz="1275" b="1">
                <a:solidFill>
                  <a:srgbClr val="59665F"/>
                </a:solidFill>
                <a:latin typeface="Helvetica Neue"/>
                <a:ea typeface="Helvetica Neue"/>
                <a:cs typeface="Helvetica Neue"/>
              </a:defRPr>
            </a:pPr>
            <a:r>
              <a:rPr sz="1275" b="1">
                <a:solidFill>
                  <a:srgbClr val="59665F"/>
                </a:solidFill>
                <a:latin typeface="Helvetica Neue"/>
                <a:ea typeface="Helvetica Neue"/>
                <a:cs typeface="Helvetica Neue"/>
              </a:rPr>
              <a:t>Cash</a:t>
            </a:r>
          </a:p>
        </p:txBody>
      </p:sp>
      <p:sp>
        <p:nvSpPr>
          <p:cNvPr id="22" name="metric-value-3">
            <a:extLst>
              <a:ext uri="{FF2B5EF4-FFF2-40B4-BE49-F238E27FC236}">
                <a16:creationId xmlns:a16="http://schemas.microsoft.com/office/drawing/2014/main" id="{E191D340-AA1A-4D1C-8A0A-B1AE76CE8185}"/>
              </a:ext>
            </a:extLst>
          </p:cNvPr>
          <p:cNvSpPr>
            <a:spLocks noGrp="1"/>
          </p:cNvSpPr>
          <p:nvPr/>
        </p:nvSpPr>
        <p:spPr>
          <a:xfrm>
            <a:off x="2324100" y="4933950"/>
            <a:ext cx="2143125" cy="400050"/>
          </a:xfrm>
          <a:prstGeom prst="rect">
            <a:avLst/>
          </a:prstGeom>
          <a:noFill/>
          <a:ln w="0">
            <a:noFill/>
            <a:prstDash val="solid"/>
          </a:ln>
        </p:spPr>
        <p:txBody>
          <a:bodyPr wrap="square" lIns="0" tIns="0" rIns="0" bIns="0" anchor="t">
            <a:noAutofit/>
          </a:bodyPr>
          <a:lstStyle/>
          <a:p>
            <a:pPr algn="l">
              <a:lnSpc>
                <a:spcPct val="100000"/>
              </a:lnSpc>
              <a:buNone/>
              <a:defRPr sz="2175" b="1">
                <a:solidFill>
                  <a:srgbClr val="17211B"/>
                </a:solidFill>
                <a:latin typeface="Helvetica Neue"/>
                <a:ea typeface="Helvetica Neue"/>
                <a:cs typeface="Helvetica Neue"/>
              </a:defRPr>
            </a:pPr>
            <a:r>
              <a:rPr sz="2175" b="1">
                <a:solidFill>
                  <a:srgbClr val="17211B"/>
                </a:solidFill>
                <a:latin typeface="Helvetica Neue"/>
                <a:ea typeface="Helvetica Neue"/>
                <a:cs typeface="Helvetica Neue"/>
              </a:rPr>
              <a:t>MMK 4.3M</a:t>
            </a:r>
          </a:p>
        </p:txBody>
      </p:sp>
      <p:sp>
        <p:nvSpPr>
          <p:cNvPr id="23" name="bar-track-3">
            <a:extLst>
              <a:ext uri="{FF2B5EF4-FFF2-40B4-BE49-F238E27FC236}">
                <a16:creationId xmlns:a16="http://schemas.microsoft.com/office/drawing/2014/main" id="{8C5FC176-41CC-4CC5-9963-F815614BAD55}"/>
              </a:ext>
            </a:extLst>
          </p:cNvPr>
          <p:cNvSpPr>
            <a:spLocks noGrp="1"/>
          </p:cNvSpPr>
          <p:nvPr/>
        </p:nvSpPr>
        <p:spPr>
          <a:xfrm>
            <a:off x="4686300" y="5038725"/>
            <a:ext cx="4953000" cy="171450"/>
          </a:xfrm>
          <a:prstGeom prst="rect">
            <a:avLst/>
          </a:prstGeom>
          <a:solidFill>
            <a:srgbClr val="EDEDED"/>
          </a:solidFill>
          <a:ln w="0">
            <a:noFill/>
            <a:prstDash val="solid"/>
          </a:ln>
        </p:spPr>
      </p:sp>
      <p:sp>
        <p:nvSpPr>
          <p:cNvPr id="24" name="bar-fill-3">
            <a:extLst>
              <a:ext uri="{FF2B5EF4-FFF2-40B4-BE49-F238E27FC236}">
                <a16:creationId xmlns:a16="http://schemas.microsoft.com/office/drawing/2014/main" id="{1A5FDA1E-D695-4DCC-89CF-3E9C8140CF4E}"/>
              </a:ext>
            </a:extLst>
          </p:cNvPr>
          <p:cNvSpPr>
            <a:spLocks noGrp="1"/>
          </p:cNvSpPr>
          <p:nvPr/>
        </p:nvSpPr>
        <p:spPr>
          <a:xfrm>
            <a:off x="4686300" y="5038725"/>
            <a:ext cx="497614" cy="171450"/>
          </a:xfrm>
          <a:prstGeom prst="rect">
            <a:avLst/>
          </a:prstGeom>
          <a:solidFill>
            <a:srgbClr val="8A4B08"/>
          </a:solidFill>
          <a:ln w="0">
            <a:noFill/>
            <a:prstDash val="solid"/>
          </a:ln>
        </p:spPr>
      </p:sp>
      <p:sp>
        <p:nvSpPr>
          <p:cNvPr id="25" name="metric-sub-3">
            <a:extLst>
              <a:ext uri="{FF2B5EF4-FFF2-40B4-BE49-F238E27FC236}">
                <a16:creationId xmlns:a16="http://schemas.microsoft.com/office/drawing/2014/main" id="{24A4F6E8-F035-45FE-968D-CBE86D90782E}"/>
              </a:ext>
            </a:extLst>
          </p:cNvPr>
          <p:cNvSpPr>
            <a:spLocks noGrp="1"/>
          </p:cNvSpPr>
          <p:nvPr/>
        </p:nvSpPr>
        <p:spPr>
          <a:xfrm>
            <a:off x="9848850" y="4991100"/>
            <a:ext cx="1733550" cy="314325"/>
          </a:xfrm>
          <a:prstGeom prst="rect">
            <a:avLst/>
          </a:prstGeom>
          <a:noFill/>
          <a:ln w="0">
            <a:noFill/>
            <a:prstDash val="solid"/>
          </a:ln>
        </p:spPr>
        <p:txBody>
          <a:bodyPr wrap="square" lIns="0" tIns="0" rIns="0" bIns="0" anchor="t">
            <a:normAutofit/>
          </a:bodyPr>
          <a:lstStyle/>
          <a:p>
            <a:pPr algn="l">
              <a:lnSpc>
                <a:spcPct val="100000"/>
              </a:lnSpc>
              <a:buNone/>
              <a:defRPr sz="1125" b="0">
                <a:solidFill>
                  <a:srgbClr val="59665F"/>
                </a:solidFill>
                <a:latin typeface="Helvetica Neue"/>
                <a:ea typeface="Helvetica Neue"/>
                <a:cs typeface="Helvetica Neue"/>
              </a:defRPr>
            </a:pPr>
            <a:r>
              <a:rPr sz="1125" b="0">
                <a:solidFill>
                  <a:srgbClr val="59665F"/>
                </a:solidFill>
                <a:latin typeface="Helvetica Neue"/>
                <a:ea typeface="Helvetica Neue"/>
                <a:cs typeface="Helvetica Neue"/>
              </a:rPr>
              <a:t>Only 0.4× payables</a:t>
            </a:r>
          </a:p>
        </p:txBody>
      </p:sp>
      <p:sp>
        <p:nvSpPr>
          <p:cNvPr id="26" name="problem-takeaway">
            <a:extLst>
              <a:ext uri="{FF2B5EF4-FFF2-40B4-BE49-F238E27FC236}">
                <a16:creationId xmlns:a16="http://schemas.microsoft.com/office/drawing/2014/main" id="{FBF3D3A3-6D0E-4C78-BBAC-AFFE3F6D3FC1}"/>
              </a:ext>
            </a:extLst>
          </p:cNvPr>
          <p:cNvSpPr>
            <a:spLocks noGrp="1"/>
          </p:cNvSpPr>
          <p:nvPr/>
        </p:nvSpPr>
        <p:spPr>
          <a:xfrm>
            <a:off x="457200" y="5962650"/>
            <a:ext cx="10096500" cy="400050"/>
          </a:xfrm>
          <a:prstGeom prst="rect">
            <a:avLst/>
          </a:prstGeom>
          <a:solidFill>
            <a:srgbClr val="E9F3EF"/>
          </a:solidFill>
          <a:ln w="0">
            <a:noFill/>
            <a:prstDash val="solid"/>
          </a:ln>
        </p:spPr>
      </p:sp>
      <p:sp>
        <p:nvSpPr>
          <p:cNvPr id="27" name="problem-takeaway-copy">
            <a:extLst>
              <a:ext uri="{FF2B5EF4-FFF2-40B4-BE49-F238E27FC236}">
                <a16:creationId xmlns:a16="http://schemas.microsoft.com/office/drawing/2014/main" id="{BCDBA2E7-3C8E-42CC-A2BA-9AF179649702}"/>
              </a:ext>
            </a:extLst>
          </p:cNvPr>
          <p:cNvSpPr>
            <a:spLocks noGrp="1"/>
          </p:cNvSpPr>
          <p:nvPr/>
        </p:nvSpPr>
        <p:spPr>
          <a:xfrm>
            <a:off x="628650" y="6048375"/>
            <a:ext cx="9696450" cy="238125"/>
          </a:xfrm>
          <a:prstGeom prst="rect">
            <a:avLst/>
          </a:prstGeom>
          <a:noFill/>
          <a:ln w="0">
            <a:noFill/>
            <a:prstDash val="solid"/>
          </a:ln>
        </p:spPr>
        <p:txBody>
          <a:bodyPr wrap="square" lIns="0" tIns="0" rIns="0" bIns="0" anchor="t">
            <a:noAutofit/>
          </a:bodyPr>
          <a:lstStyle/>
          <a:p>
            <a:pPr algn="l">
              <a:lnSpc>
                <a:spcPct val="100000"/>
              </a:lnSpc>
              <a:buNone/>
              <a:defRPr sz="1425" b="1">
                <a:solidFill>
                  <a:srgbClr val="07523D"/>
                </a:solidFill>
                <a:latin typeface="Helvetica Neue"/>
                <a:ea typeface="Helvetica Neue"/>
                <a:cs typeface="Helvetica Neue"/>
              </a:defRPr>
            </a:pPr>
            <a:r>
              <a:rPr sz="1425" b="1">
                <a:solidFill>
                  <a:srgbClr val="07523D"/>
                </a:solidFill>
                <a:latin typeface="Helvetica Neue"/>
                <a:ea typeface="Helvetica Neue"/>
                <a:cs typeface="Helvetica Neue"/>
              </a:rPr>
              <a:t>The core tension: growth does not guarantee cash readiness.</a:t>
            </a:r>
          </a:p>
        </p:txBody>
      </p:sp>
    </p:spTree>
    <p:extLst>
      <p:ext uri="{BB962C8B-B14F-4D97-AF65-F5344CB8AC3E}">
        <p14:creationId xmlns:p14="http://schemas.microsoft.com/office/powerpoint/2010/main" val="94497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3"/>
        </a:solidFill>
        <a:effectLst/>
      </p:bgPr>
    </p:bg>
    <p:spTree>
      <p:nvGrpSpPr>
        <p:cNvPr id="1" name=""/>
        <p:cNvGrpSpPr/>
        <p:nvPr/>
      </p:nvGrpSpPr>
      <p:grpSpPr>
        <a:xfrm>
          <a:off x="0" y="0"/>
          <a:ext cx="0" cy="0"/>
          <a:chOff x="0" y="0"/>
          <a:chExt cx="0" cy="0"/>
        </a:xfrm>
      </p:grpSpPr>
      <p:sp>
        <p:nvSpPr>
          <p:cNvPr id="19" name="eyebrow-3">
            <a:extLst>
              <a:ext uri="{FF2B5EF4-FFF2-40B4-BE49-F238E27FC236}">
                <a16:creationId xmlns:a16="http://schemas.microsoft.com/office/drawing/2014/main" id="{12C4BDBF-4BBE-49F3-857A-14D67A00DFA1}"/>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3">
            <a:extLst>
              <a:ext uri="{FF2B5EF4-FFF2-40B4-BE49-F238E27FC236}">
                <a16:creationId xmlns:a16="http://schemas.microsoft.com/office/drawing/2014/main" id="{DFFDEADC-D5B3-448D-9886-C088DFEDC121}"/>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The job is to make the next action explainable.</a:t>
            </a:r>
          </a:p>
        </p:txBody>
      </p:sp>
      <p:sp>
        <p:nvSpPr>
          <p:cNvPr id="3" name="header-rule-3">
            <a:extLst>
              <a:ext uri="{FF2B5EF4-FFF2-40B4-BE49-F238E27FC236}">
                <a16:creationId xmlns:a16="http://schemas.microsoft.com/office/drawing/2014/main" id="{D9265F48-0938-4DFA-9EA7-30BA8963B537}"/>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3">
            <a:extLst>
              <a:ext uri="{FF2B5EF4-FFF2-40B4-BE49-F238E27FC236}">
                <a16:creationId xmlns:a16="http://schemas.microsoft.com/office/drawing/2014/main" id="{F7E29CBB-C8CC-41E3-8E5B-B9F0890371A8}"/>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03</a:t>
            </a:r>
          </a:p>
        </p:txBody>
      </p:sp>
      <p:sp>
        <p:nvSpPr>
          <p:cNvPr id="5" name="action-subtitle">
            <a:extLst>
              <a:ext uri="{FF2B5EF4-FFF2-40B4-BE49-F238E27FC236}">
                <a16:creationId xmlns:a16="http://schemas.microsoft.com/office/drawing/2014/main" id="{B0FCCDE8-88B7-40DF-A345-0F7798DDA29D}"/>
              </a:ext>
            </a:extLst>
          </p:cNvPr>
          <p:cNvSpPr>
            <a:spLocks noGrp="1"/>
          </p:cNvSpPr>
          <p:nvPr/>
        </p:nvSpPr>
        <p:spPr>
          <a:xfrm>
            <a:off x="457200" y="1657350"/>
            <a:ext cx="10382250" cy="495300"/>
          </a:xfrm>
          <a:prstGeom prst="rect">
            <a:avLst/>
          </a:prstGeom>
          <a:noFill/>
          <a:ln w="0">
            <a:noFill/>
            <a:prstDash val="solid"/>
          </a:ln>
        </p:spPr>
        <p:txBody>
          <a:bodyPr wrap="square" lIns="0" tIns="0" rIns="0" bIns="0" anchor="t">
            <a:noAutofit/>
          </a:bodyPr>
          <a:lstStyle/>
          <a:p>
            <a:pPr algn="l">
              <a:lnSpc>
                <a:spcPct val="100000"/>
              </a:lnSpc>
              <a:buNone/>
              <a:defRPr sz="1650" b="0">
                <a:solidFill>
                  <a:srgbClr val="59665F"/>
                </a:solidFill>
                <a:latin typeface="Helvetica Neue"/>
                <a:ea typeface="Helvetica Neue"/>
                <a:cs typeface="Helvetica Neue"/>
              </a:defRPr>
            </a:pPr>
            <a:r>
              <a:rPr sz="1650" b="0">
                <a:solidFill>
                  <a:srgbClr val="59665F"/>
                </a:solidFill>
                <a:latin typeface="Helvetica Neue"/>
                <a:ea typeface="Helvetica Neue"/>
                <a:cs typeface="Helvetica Neue"/>
              </a:rPr>
              <a:t>ThriveAI turns four fragmented views of the business into a decision path the owner can inspect.</a:t>
            </a:r>
          </a:p>
        </p:txBody>
      </p:sp>
      <p:sp>
        <p:nvSpPr>
          <p:cNvPr id="6" name="step-number-0">
            <a:extLst>
              <a:ext uri="{FF2B5EF4-FFF2-40B4-BE49-F238E27FC236}">
                <a16:creationId xmlns:a16="http://schemas.microsoft.com/office/drawing/2014/main" id="{4770EA20-0BAD-4F05-8D75-AB28763E91E9}"/>
              </a:ext>
            </a:extLst>
          </p:cNvPr>
          <p:cNvSpPr>
            <a:spLocks noGrp="1"/>
          </p:cNvSpPr>
          <p:nvPr/>
        </p:nvSpPr>
        <p:spPr>
          <a:xfrm>
            <a:off x="457200" y="2619375"/>
            <a:ext cx="647700" cy="400050"/>
          </a:xfrm>
          <a:prstGeom prst="rect">
            <a:avLst/>
          </a:prstGeom>
          <a:noFill/>
          <a:ln w="0">
            <a:noFill/>
            <a:prstDash val="solid"/>
          </a:ln>
        </p:spPr>
        <p:txBody>
          <a:bodyPr wrap="square" lIns="0" tIns="0" rIns="0" bIns="0" anchor="t">
            <a:noAutofit/>
          </a:bodyPr>
          <a:lstStyle/>
          <a:p>
            <a:pPr algn="l">
              <a:lnSpc>
                <a:spcPct val="100000"/>
              </a:lnSpc>
              <a:buNone/>
              <a:defRPr sz="2325" b="1">
                <a:solidFill>
                  <a:srgbClr val="0E6B50"/>
                </a:solidFill>
                <a:latin typeface="Helvetica Neue"/>
                <a:ea typeface="Helvetica Neue"/>
                <a:cs typeface="Helvetica Neue"/>
              </a:defRPr>
            </a:pPr>
            <a:r>
              <a:rPr sz="2325" b="1">
                <a:solidFill>
                  <a:srgbClr val="0E6B50"/>
                </a:solidFill>
                <a:latin typeface="Helvetica Neue"/>
                <a:ea typeface="Helvetica Neue"/>
                <a:cs typeface="Helvetica Neue"/>
              </a:rPr>
              <a:t>01</a:t>
            </a:r>
          </a:p>
        </p:txBody>
      </p:sp>
      <p:sp>
        <p:nvSpPr>
          <p:cNvPr id="7" name="step-rule-0">
            <a:extLst>
              <a:ext uri="{FF2B5EF4-FFF2-40B4-BE49-F238E27FC236}">
                <a16:creationId xmlns:a16="http://schemas.microsoft.com/office/drawing/2014/main" id="{69903EE5-AAC5-4184-9793-EE709AF2FC03}"/>
              </a:ext>
            </a:extLst>
          </p:cNvPr>
          <p:cNvSpPr>
            <a:spLocks noGrp="1"/>
          </p:cNvSpPr>
          <p:nvPr/>
        </p:nvSpPr>
        <p:spPr>
          <a:xfrm>
            <a:off x="457200" y="3152775"/>
            <a:ext cx="3257550" cy="0"/>
          </a:xfrm>
          <a:prstGeom prst="line">
            <a:avLst/>
          </a:prstGeom>
          <a:noFill/>
          <a:ln w="9525">
            <a:solidFill>
              <a:srgbClr val="B8BCC4"/>
            </a:solidFill>
            <a:prstDash val="solid"/>
          </a:ln>
        </p:spPr>
      </p:sp>
      <p:sp>
        <p:nvSpPr>
          <p:cNvPr id="8" name="step-title-0">
            <a:extLst>
              <a:ext uri="{FF2B5EF4-FFF2-40B4-BE49-F238E27FC236}">
                <a16:creationId xmlns:a16="http://schemas.microsoft.com/office/drawing/2014/main" id="{3D91C213-069B-4FEF-9451-632EB31722AB}"/>
              </a:ext>
            </a:extLst>
          </p:cNvPr>
          <p:cNvSpPr>
            <a:spLocks noGrp="1"/>
          </p:cNvSpPr>
          <p:nvPr/>
        </p:nvSpPr>
        <p:spPr>
          <a:xfrm>
            <a:off x="457200" y="3457575"/>
            <a:ext cx="3143250" cy="400050"/>
          </a:xfrm>
          <a:prstGeom prst="rect">
            <a:avLst/>
          </a:prstGeom>
          <a:noFill/>
          <a:ln w="0">
            <a:noFill/>
            <a:prstDash val="solid"/>
          </a:ln>
        </p:spPr>
        <p:txBody>
          <a:bodyPr wrap="square" lIns="0" tIns="0" rIns="0" bIns="0" anchor="t">
            <a:noAutofit/>
          </a:bodyPr>
          <a:lstStyle/>
          <a:p>
            <a:pPr algn="l">
              <a:lnSpc>
                <a:spcPct val="100000"/>
              </a:lnSpc>
              <a:buNone/>
              <a:defRPr sz="2025" b="1">
                <a:solidFill>
                  <a:srgbClr val="17211B"/>
                </a:solidFill>
                <a:latin typeface="Helvetica Neue"/>
                <a:ea typeface="Helvetica Neue"/>
                <a:cs typeface="Helvetica Neue"/>
              </a:defRPr>
            </a:pPr>
            <a:r>
              <a:rPr sz="2025" b="1">
                <a:solidFill>
                  <a:srgbClr val="17211B"/>
                </a:solidFill>
                <a:latin typeface="Helvetica Neue"/>
                <a:ea typeface="Helvetica Neue"/>
                <a:cs typeface="Helvetica Neue"/>
              </a:rPr>
              <a:t>See the facts</a:t>
            </a:r>
          </a:p>
        </p:txBody>
      </p:sp>
      <p:sp>
        <p:nvSpPr>
          <p:cNvPr id="9" name="step-body-0">
            <a:extLst>
              <a:ext uri="{FF2B5EF4-FFF2-40B4-BE49-F238E27FC236}">
                <a16:creationId xmlns:a16="http://schemas.microsoft.com/office/drawing/2014/main" id="{D8B669C9-53D6-4443-8781-645848E13AFF}"/>
              </a:ext>
            </a:extLst>
          </p:cNvPr>
          <p:cNvSpPr>
            <a:spLocks noGrp="1"/>
          </p:cNvSpPr>
          <p:nvPr/>
        </p:nvSpPr>
        <p:spPr>
          <a:xfrm>
            <a:off x="457200" y="4086225"/>
            <a:ext cx="3143250" cy="1085850"/>
          </a:xfrm>
          <a:prstGeom prst="rect">
            <a:avLst/>
          </a:prstGeom>
          <a:noFill/>
          <a:ln w="0">
            <a:noFill/>
            <a:prstDash val="solid"/>
          </a:ln>
        </p:spPr>
        <p:txBody>
          <a:bodyPr wrap="square" lIns="0" tIns="0" rIns="0" bIns="0" anchor="t">
            <a:noAutofit/>
          </a:bodyPr>
          <a:lstStyle/>
          <a:p>
            <a:pPr algn="l">
              <a:lnSpc>
                <a:spcPct val="108000"/>
              </a:lnSpc>
              <a:buNone/>
              <a:defRPr sz="1350" b="0">
                <a:solidFill>
                  <a:srgbClr val="59665F"/>
                </a:solidFill>
                <a:latin typeface="Helvetica Neue"/>
                <a:ea typeface="Helvetica Neue"/>
                <a:cs typeface="Helvetica Neue"/>
              </a:defRPr>
            </a:pPr>
            <a:r>
              <a:rPr sz="1350" b="0">
                <a:solidFill>
                  <a:srgbClr val="59665F"/>
                </a:solidFill>
                <a:latin typeface="Helvetica Neue"/>
                <a:ea typeface="Helvetica Neue"/>
                <a:cs typeface="Helvetica Neue"/>
              </a:rPr>
              <a:t>Revenue, cash, payables, receivables and runway—calculated from the selected profile.</a:t>
            </a:r>
          </a:p>
        </p:txBody>
      </p:sp>
      <p:sp>
        <p:nvSpPr>
          <p:cNvPr id="10" name="step-number-1">
            <a:extLst>
              <a:ext uri="{FF2B5EF4-FFF2-40B4-BE49-F238E27FC236}">
                <a16:creationId xmlns:a16="http://schemas.microsoft.com/office/drawing/2014/main" id="{F34BB48C-8F20-4AF4-9030-B6C52824EDAE}"/>
              </a:ext>
            </a:extLst>
          </p:cNvPr>
          <p:cNvSpPr>
            <a:spLocks noGrp="1"/>
          </p:cNvSpPr>
          <p:nvPr/>
        </p:nvSpPr>
        <p:spPr>
          <a:xfrm>
            <a:off x="4229100" y="2619375"/>
            <a:ext cx="647700" cy="400050"/>
          </a:xfrm>
          <a:prstGeom prst="rect">
            <a:avLst/>
          </a:prstGeom>
          <a:noFill/>
          <a:ln w="0">
            <a:noFill/>
            <a:prstDash val="solid"/>
          </a:ln>
        </p:spPr>
        <p:txBody>
          <a:bodyPr wrap="square" lIns="0" tIns="0" rIns="0" bIns="0" anchor="t">
            <a:noAutofit/>
          </a:bodyPr>
          <a:lstStyle/>
          <a:p>
            <a:pPr algn="l">
              <a:lnSpc>
                <a:spcPct val="100000"/>
              </a:lnSpc>
              <a:buNone/>
              <a:defRPr sz="2325" b="1">
                <a:solidFill>
                  <a:srgbClr val="0E6B50"/>
                </a:solidFill>
                <a:latin typeface="Helvetica Neue"/>
                <a:ea typeface="Helvetica Neue"/>
                <a:cs typeface="Helvetica Neue"/>
              </a:defRPr>
            </a:pPr>
            <a:r>
              <a:rPr sz="2325" b="1">
                <a:solidFill>
                  <a:srgbClr val="0E6B50"/>
                </a:solidFill>
                <a:latin typeface="Helvetica Neue"/>
                <a:ea typeface="Helvetica Neue"/>
                <a:cs typeface="Helvetica Neue"/>
              </a:rPr>
              <a:t>02</a:t>
            </a:r>
          </a:p>
        </p:txBody>
      </p:sp>
      <p:sp>
        <p:nvSpPr>
          <p:cNvPr id="11" name="step-rule-1">
            <a:extLst>
              <a:ext uri="{FF2B5EF4-FFF2-40B4-BE49-F238E27FC236}">
                <a16:creationId xmlns:a16="http://schemas.microsoft.com/office/drawing/2014/main" id="{DE4067CE-89B3-4784-A77D-1A6F5BF1C9F4}"/>
              </a:ext>
            </a:extLst>
          </p:cNvPr>
          <p:cNvSpPr>
            <a:spLocks noGrp="1"/>
          </p:cNvSpPr>
          <p:nvPr/>
        </p:nvSpPr>
        <p:spPr>
          <a:xfrm>
            <a:off x="4229100" y="3152775"/>
            <a:ext cx="3257550" cy="0"/>
          </a:xfrm>
          <a:prstGeom prst="line">
            <a:avLst/>
          </a:prstGeom>
          <a:noFill/>
          <a:ln w="9525">
            <a:solidFill>
              <a:srgbClr val="B8BCC4"/>
            </a:solidFill>
            <a:prstDash val="solid"/>
          </a:ln>
        </p:spPr>
      </p:sp>
      <p:sp>
        <p:nvSpPr>
          <p:cNvPr id="12" name="step-title-1">
            <a:extLst>
              <a:ext uri="{FF2B5EF4-FFF2-40B4-BE49-F238E27FC236}">
                <a16:creationId xmlns:a16="http://schemas.microsoft.com/office/drawing/2014/main" id="{AAAF1966-B2E5-4A48-81C1-D925A01E44D8}"/>
              </a:ext>
            </a:extLst>
          </p:cNvPr>
          <p:cNvSpPr>
            <a:spLocks noGrp="1"/>
          </p:cNvSpPr>
          <p:nvPr/>
        </p:nvSpPr>
        <p:spPr>
          <a:xfrm>
            <a:off x="4229100" y="3457575"/>
            <a:ext cx="3143250" cy="400050"/>
          </a:xfrm>
          <a:prstGeom prst="rect">
            <a:avLst/>
          </a:prstGeom>
          <a:noFill/>
          <a:ln w="0">
            <a:noFill/>
            <a:prstDash val="solid"/>
          </a:ln>
        </p:spPr>
        <p:txBody>
          <a:bodyPr wrap="square" lIns="0" tIns="0" rIns="0" bIns="0" anchor="t">
            <a:noAutofit/>
          </a:bodyPr>
          <a:lstStyle/>
          <a:p>
            <a:pPr algn="l">
              <a:lnSpc>
                <a:spcPct val="100000"/>
              </a:lnSpc>
              <a:buNone/>
              <a:defRPr sz="2025" b="1">
                <a:solidFill>
                  <a:srgbClr val="17211B"/>
                </a:solidFill>
                <a:latin typeface="Helvetica Neue"/>
                <a:ea typeface="Helvetica Neue"/>
                <a:cs typeface="Helvetica Neue"/>
              </a:defRPr>
            </a:pPr>
            <a:r>
              <a:rPr sz="2025" b="1">
                <a:solidFill>
                  <a:srgbClr val="17211B"/>
                </a:solidFill>
                <a:latin typeface="Helvetica Neue"/>
                <a:ea typeface="Helvetica Neue"/>
                <a:cs typeface="Helvetica Neue"/>
              </a:rPr>
              <a:t>Ask naturally</a:t>
            </a:r>
          </a:p>
        </p:txBody>
      </p:sp>
      <p:sp>
        <p:nvSpPr>
          <p:cNvPr id="13" name="step-body-1">
            <a:extLst>
              <a:ext uri="{FF2B5EF4-FFF2-40B4-BE49-F238E27FC236}">
                <a16:creationId xmlns:a16="http://schemas.microsoft.com/office/drawing/2014/main" id="{14C1FE32-1362-419C-8A3B-4A796688DFE9}"/>
              </a:ext>
            </a:extLst>
          </p:cNvPr>
          <p:cNvSpPr>
            <a:spLocks noGrp="1"/>
          </p:cNvSpPr>
          <p:nvPr/>
        </p:nvSpPr>
        <p:spPr>
          <a:xfrm>
            <a:off x="4229100" y="4086225"/>
            <a:ext cx="3143250" cy="1085850"/>
          </a:xfrm>
          <a:prstGeom prst="rect">
            <a:avLst/>
          </a:prstGeom>
          <a:noFill/>
          <a:ln w="0">
            <a:noFill/>
            <a:prstDash val="solid"/>
          </a:ln>
        </p:spPr>
        <p:txBody>
          <a:bodyPr wrap="square" lIns="0" tIns="0" rIns="0" bIns="0" anchor="t">
            <a:noAutofit/>
          </a:bodyPr>
          <a:lstStyle/>
          <a:p>
            <a:pPr algn="l">
              <a:lnSpc>
                <a:spcPct val="108000"/>
              </a:lnSpc>
              <a:buNone/>
              <a:defRPr sz="1350" b="0">
                <a:solidFill>
                  <a:srgbClr val="59665F"/>
                </a:solidFill>
                <a:latin typeface="Helvetica Neue"/>
                <a:ea typeface="Helvetica Neue"/>
                <a:cs typeface="Helvetica Neue"/>
              </a:defRPr>
            </a:pPr>
            <a:r>
              <a:rPr sz="1350" b="0">
                <a:solidFill>
                  <a:srgbClr val="59665F"/>
                </a:solidFill>
                <a:latin typeface="Helvetica Neue"/>
                <a:ea typeface="Helvetica Neue"/>
                <a:cs typeface="Helvetica Neue"/>
              </a:rPr>
              <a:t>A Burmese, English or mixed-language question expresses the real business concern.</a:t>
            </a:r>
          </a:p>
        </p:txBody>
      </p:sp>
      <p:sp>
        <p:nvSpPr>
          <p:cNvPr id="14" name="step-number-2">
            <a:extLst>
              <a:ext uri="{FF2B5EF4-FFF2-40B4-BE49-F238E27FC236}">
                <a16:creationId xmlns:a16="http://schemas.microsoft.com/office/drawing/2014/main" id="{542E0357-7DA6-4A5E-B4E4-C5E3004922EE}"/>
              </a:ext>
            </a:extLst>
          </p:cNvPr>
          <p:cNvSpPr>
            <a:spLocks noGrp="1"/>
          </p:cNvSpPr>
          <p:nvPr/>
        </p:nvSpPr>
        <p:spPr>
          <a:xfrm>
            <a:off x="8001000" y="2619375"/>
            <a:ext cx="647700" cy="400050"/>
          </a:xfrm>
          <a:prstGeom prst="rect">
            <a:avLst/>
          </a:prstGeom>
          <a:noFill/>
          <a:ln w="0">
            <a:noFill/>
            <a:prstDash val="solid"/>
          </a:ln>
        </p:spPr>
        <p:txBody>
          <a:bodyPr wrap="square" lIns="0" tIns="0" rIns="0" bIns="0" anchor="t">
            <a:noAutofit/>
          </a:bodyPr>
          <a:lstStyle/>
          <a:p>
            <a:pPr algn="l">
              <a:lnSpc>
                <a:spcPct val="100000"/>
              </a:lnSpc>
              <a:buNone/>
              <a:defRPr sz="2325" b="1">
                <a:solidFill>
                  <a:srgbClr val="0E6B50"/>
                </a:solidFill>
                <a:latin typeface="Helvetica Neue"/>
                <a:ea typeface="Helvetica Neue"/>
                <a:cs typeface="Helvetica Neue"/>
              </a:defRPr>
            </a:pPr>
            <a:r>
              <a:rPr sz="2325" b="1">
                <a:solidFill>
                  <a:srgbClr val="0E6B50"/>
                </a:solidFill>
                <a:latin typeface="Helvetica Neue"/>
                <a:ea typeface="Helvetica Neue"/>
                <a:cs typeface="Helvetica Neue"/>
              </a:rPr>
              <a:t>03</a:t>
            </a:r>
          </a:p>
        </p:txBody>
      </p:sp>
      <p:sp>
        <p:nvSpPr>
          <p:cNvPr id="15" name="step-rule-2">
            <a:extLst>
              <a:ext uri="{FF2B5EF4-FFF2-40B4-BE49-F238E27FC236}">
                <a16:creationId xmlns:a16="http://schemas.microsoft.com/office/drawing/2014/main" id="{EAC45C83-8CAC-4A8E-BA41-55A09186C908}"/>
              </a:ext>
            </a:extLst>
          </p:cNvPr>
          <p:cNvSpPr>
            <a:spLocks noGrp="1"/>
          </p:cNvSpPr>
          <p:nvPr/>
        </p:nvSpPr>
        <p:spPr>
          <a:xfrm>
            <a:off x="8001000" y="3152775"/>
            <a:ext cx="3257550" cy="0"/>
          </a:xfrm>
          <a:prstGeom prst="line">
            <a:avLst/>
          </a:prstGeom>
          <a:noFill/>
          <a:ln w="38100">
            <a:solidFill>
              <a:srgbClr val="0E6B50"/>
            </a:solidFill>
            <a:prstDash val="solid"/>
          </a:ln>
        </p:spPr>
      </p:sp>
      <p:sp>
        <p:nvSpPr>
          <p:cNvPr id="16" name="step-title-2">
            <a:extLst>
              <a:ext uri="{FF2B5EF4-FFF2-40B4-BE49-F238E27FC236}">
                <a16:creationId xmlns:a16="http://schemas.microsoft.com/office/drawing/2014/main" id="{92FC50FB-5BEB-46AC-9BC4-A4966F59F9F5}"/>
              </a:ext>
            </a:extLst>
          </p:cNvPr>
          <p:cNvSpPr>
            <a:spLocks noGrp="1"/>
          </p:cNvSpPr>
          <p:nvPr/>
        </p:nvSpPr>
        <p:spPr>
          <a:xfrm>
            <a:off x="8001000" y="3457575"/>
            <a:ext cx="3143250" cy="400050"/>
          </a:xfrm>
          <a:prstGeom prst="rect">
            <a:avLst/>
          </a:prstGeom>
          <a:noFill/>
          <a:ln w="0">
            <a:noFill/>
            <a:prstDash val="solid"/>
          </a:ln>
        </p:spPr>
        <p:txBody>
          <a:bodyPr wrap="square" lIns="0" tIns="0" rIns="0" bIns="0" anchor="t">
            <a:noAutofit/>
          </a:bodyPr>
          <a:lstStyle/>
          <a:p>
            <a:pPr algn="l">
              <a:lnSpc>
                <a:spcPct val="100000"/>
              </a:lnSpc>
              <a:buNone/>
              <a:defRPr sz="2025" b="1">
                <a:solidFill>
                  <a:srgbClr val="17211B"/>
                </a:solidFill>
                <a:latin typeface="Helvetica Neue"/>
                <a:ea typeface="Helvetica Neue"/>
                <a:cs typeface="Helvetica Neue"/>
              </a:defRPr>
            </a:pPr>
            <a:r>
              <a:rPr sz="2025" b="1">
                <a:solidFill>
                  <a:srgbClr val="17211B"/>
                </a:solidFill>
                <a:latin typeface="Helvetica Neue"/>
                <a:ea typeface="Helvetica Neue"/>
                <a:cs typeface="Helvetica Neue"/>
              </a:rPr>
              <a:t>Act with evidence</a:t>
            </a:r>
          </a:p>
        </p:txBody>
      </p:sp>
      <p:sp>
        <p:nvSpPr>
          <p:cNvPr id="17" name="step-body-2">
            <a:extLst>
              <a:ext uri="{FF2B5EF4-FFF2-40B4-BE49-F238E27FC236}">
                <a16:creationId xmlns:a16="http://schemas.microsoft.com/office/drawing/2014/main" id="{DC6048A6-54D1-49EC-9C74-90E4086FF4FB}"/>
              </a:ext>
            </a:extLst>
          </p:cNvPr>
          <p:cNvSpPr>
            <a:spLocks noGrp="1"/>
          </p:cNvSpPr>
          <p:nvPr/>
        </p:nvSpPr>
        <p:spPr>
          <a:xfrm>
            <a:off x="8001000" y="4086225"/>
            <a:ext cx="3143250" cy="1085850"/>
          </a:xfrm>
          <a:prstGeom prst="rect">
            <a:avLst/>
          </a:prstGeom>
          <a:noFill/>
          <a:ln w="0">
            <a:noFill/>
            <a:prstDash val="solid"/>
          </a:ln>
        </p:spPr>
        <p:txBody>
          <a:bodyPr wrap="square" lIns="0" tIns="0" rIns="0" bIns="0" anchor="t">
            <a:noAutofit/>
          </a:bodyPr>
          <a:lstStyle/>
          <a:p>
            <a:pPr algn="l">
              <a:lnSpc>
                <a:spcPct val="108000"/>
              </a:lnSpc>
              <a:buNone/>
              <a:defRPr sz="1350" b="0">
                <a:solidFill>
                  <a:srgbClr val="59665F"/>
                </a:solidFill>
                <a:latin typeface="Helvetica Neue"/>
                <a:ea typeface="Helvetica Neue"/>
                <a:cs typeface="Helvetica Neue"/>
              </a:defRPr>
            </a:pPr>
            <a:r>
              <a:rPr sz="1350" b="0">
                <a:solidFill>
                  <a:srgbClr val="59665F"/>
                </a:solidFill>
                <a:latin typeface="Helvetica Neue"/>
                <a:ea typeface="Helvetica Neue"/>
                <a:cs typeface="Helvetica Neue"/>
              </a:rPr>
              <a:t>The response ranks approved signals and actions, with traceable values and assumptions.</a:t>
            </a:r>
          </a:p>
        </p:txBody>
      </p:sp>
      <p:sp>
        <p:nvSpPr>
          <p:cNvPr id="18" name="action-line">
            <a:extLst>
              <a:ext uri="{FF2B5EF4-FFF2-40B4-BE49-F238E27FC236}">
                <a16:creationId xmlns:a16="http://schemas.microsoft.com/office/drawing/2014/main" id="{6C1E4BAA-8FCD-4C41-BD46-D8034B3C1A8C}"/>
              </a:ext>
            </a:extLst>
          </p:cNvPr>
          <p:cNvSpPr>
            <a:spLocks noGrp="1"/>
          </p:cNvSpPr>
          <p:nvPr/>
        </p:nvSpPr>
        <p:spPr>
          <a:xfrm>
            <a:off x="457200" y="5781675"/>
            <a:ext cx="11125200" cy="419100"/>
          </a:xfrm>
          <a:prstGeom prst="rect">
            <a:avLst/>
          </a:prstGeom>
          <a:noFill/>
          <a:ln w="0">
            <a:noFill/>
            <a:prstDash val="solid"/>
          </a:ln>
        </p:spPr>
        <p:txBody>
          <a:bodyPr wrap="square" lIns="0" tIns="0" rIns="0" bIns="0" anchor="t">
            <a:noAutofit/>
          </a:bodyPr>
          <a:lstStyle/>
          <a:p>
            <a:pPr algn="l">
              <a:lnSpc>
                <a:spcPct val="100000"/>
              </a:lnSpc>
              <a:buNone/>
              <a:defRPr sz="2325" b="1">
                <a:solidFill>
                  <a:srgbClr val="07523D"/>
                </a:solidFill>
                <a:latin typeface="Helvetica Neue"/>
                <a:ea typeface="Helvetica Neue"/>
                <a:cs typeface="Helvetica Neue"/>
              </a:defRPr>
            </a:pPr>
            <a:r>
              <a:rPr sz="2325" b="1">
                <a:solidFill>
                  <a:srgbClr val="07523D"/>
                </a:solidFill>
                <a:latin typeface="Helvetica Neue"/>
                <a:ea typeface="Helvetica Neue"/>
                <a:cs typeface="Helvetica Neue"/>
              </a:rPr>
              <a:t>One answer. Three visible layers: fact → interpretation → action.</a:t>
            </a:r>
          </a:p>
        </p:txBody>
      </p:sp>
    </p:spTree>
    <p:extLst>
      <p:ext uri="{BB962C8B-B14F-4D97-AF65-F5344CB8AC3E}">
        <p14:creationId xmlns:p14="http://schemas.microsoft.com/office/powerpoint/2010/main" val="887920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eyebrow-4">
            <a:extLst>
              <a:ext uri="{FF2B5EF4-FFF2-40B4-BE49-F238E27FC236}">
                <a16:creationId xmlns:a16="http://schemas.microsoft.com/office/drawing/2014/main" id="{3A692213-2FF2-4E27-8B44-4104F52CDD4A}"/>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4">
            <a:extLst>
              <a:ext uri="{FF2B5EF4-FFF2-40B4-BE49-F238E27FC236}">
                <a16:creationId xmlns:a16="http://schemas.microsoft.com/office/drawing/2014/main" id="{DC9102DE-693A-4008-B6C5-9700331B8FEA}"/>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One workspace turns evidence into a decision path.</a:t>
            </a:r>
          </a:p>
        </p:txBody>
      </p:sp>
      <p:sp>
        <p:nvSpPr>
          <p:cNvPr id="3" name="header-rule-4">
            <a:extLst>
              <a:ext uri="{FF2B5EF4-FFF2-40B4-BE49-F238E27FC236}">
                <a16:creationId xmlns:a16="http://schemas.microsoft.com/office/drawing/2014/main" id="{1FE980F1-0AEC-466B-A85A-8CB23BA4467F}"/>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4">
            <a:extLst>
              <a:ext uri="{FF2B5EF4-FFF2-40B4-BE49-F238E27FC236}">
                <a16:creationId xmlns:a16="http://schemas.microsoft.com/office/drawing/2014/main" id="{726CB47B-5BD5-476E-916B-DA180D24EE65}"/>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04</a:t>
            </a:r>
          </a:p>
        </p:txBody>
      </p:sp>
      <p:sp>
        <p:nvSpPr>
          <p:cNvPr id="5" name="desktop-frame">
            <a:extLst>
              <a:ext uri="{FF2B5EF4-FFF2-40B4-BE49-F238E27FC236}">
                <a16:creationId xmlns:a16="http://schemas.microsoft.com/office/drawing/2014/main" id="{741FAC14-B07C-445F-9641-8990B6ED403B}"/>
              </a:ext>
            </a:extLst>
          </p:cNvPr>
          <p:cNvSpPr>
            <a:spLocks noGrp="1"/>
          </p:cNvSpPr>
          <p:nvPr/>
        </p:nvSpPr>
        <p:spPr>
          <a:xfrm>
            <a:off x="457200" y="1676400"/>
            <a:ext cx="7715250" cy="4819650"/>
          </a:xfrm>
          <a:prstGeom prst="roundRect">
            <a:avLst>
              <a:gd name="adj" fmla="val 1976"/>
            </a:avLst>
          </a:prstGeom>
          <a:solidFill>
            <a:srgbClr val="F1F7F4"/>
          </a:solidFill>
          <a:ln w="9525">
            <a:solidFill>
              <a:srgbClr val="D9DED9"/>
            </a:solidFill>
            <a:prstDash val="solid"/>
          </a:ln>
        </p:spPr>
      </p:sp>
      <p:pic>
        <p:nvPicPr>
          <p:cNvPr id="20" name="Picture 19"/>
          <p:cNvPicPr>
            <a:picLocks noChangeAspect="1"/>
          </p:cNvPicPr>
          <p:nvPr/>
        </p:nvPicPr>
        <p:blipFill>
          <a:blip r:embed="rId3"/>
          <a:stretch/>
        </p:blipFill>
        <p:spPr>
          <a:xfrm>
            <a:off x="626745" y="1781175"/>
            <a:ext cx="7376160" cy="4610100"/>
          </a:xfrm>
          <a:prstGeom prst="roundRect">
            <a:avLst>
              <a:gd name="adj" fmla="val 1653"/>
            </a:avLst>
          </a:prstGeom>
        </p:spPr>
      </p:pic>
      <p:sp>
        <p:nvSpPr>
          <p:cNvPr id="7" name="walk-label-0">
            <a:extLst>
              <a:ext uri="{FF2B5EF4-FFF2-40B4-BE49-F238E27FC236}">
                <a16:creationId xmlns:a16="http://schemas.microsoft.com/office/drawing/2014/main" id="{5BEA9A5F-F3F9-4541-B19A-3AF615365B38}"/>
              </a:ext>
            </a:extLst>
          </p:cNvPr>
          <p:cNvSpPr>
            <a:spLocks noGrp="1"/>
          </p:cNvSpPr>
          <p:nvPr/>
        </p:nvSpPr>
        <p:spPr>
          <a:xfrm>
            <a:off x="8591550" y="1914525"/>
            <a:ext cx="1000125" cy="247650"/>
          </a:xfrm>
          <a:prstGeom prst="rect">
            <a:avLst/>
          </a:prstGeom>
          <a:noFill/>
          <a:ln w="0">
            <a:noFill/>
            <a:prstDash val="solid"/>
          </a:ln>
        </p:spPr>
        <p:txBody>
          <a:bodyPr wrap="square" lIns="0" tIns="0" rIns="0" bIns="0" anchor="t">
            <a:noAutofit/>
          </a:bodyPr>
          <a:lstStyle/>
          <a:p>
            <a:pPr algn="l">
              <a:lnSpc>
                <a:spcPct val="100000"/>
              </a:lnSpc>
              <a:buNone/>
              <a:defRPr sz="1125" b="1">
                <a:solidFill>
                  <a:srgbClr val="0E6B50"/>
                </a:solidFill>
                <a:latin typeface="Helvetica Neue"/>
                <a:ea typeface="Helvetica Neue"/>
                <a:cs typeface="Helvetica Neue"/>
              </a:defRPr>
            </a:pPr>
            <a:r>
              <a:rPr sz="1125" b="1">
                <a:solidFill>
                  <a:srgbClr val="0E6B50"/>
                </a:solidFill>
                <a:latin typeface="Helvetica Neue"/>
                <a:ea typeface="Helvetica Neue"/>
                <a:cs typeface="Helvetica Neue"/>
              </a:rPr>
              <a:t>SEE</a:t>
            </a:r>
          </a:p>
        </p:txBody>
      </p:sp>
      <p:sp>
        <p:nvSpPr>
          <p:cNvPr id="8" name="walk-body-0">
            <a:extLst>
              <a:ext uri="{FF2B5EF4-FFF2-40B4-BE49-F238E27FC236}">
                <a16:creationId xmlns:a16="http://schemas.microsoft.com/office/drawing/2014/main" id="{D71A6B95-3CBD-49CA-9CC8-7C9D164394D5}"/>
              </a:ext>
            </a:extLst>
          </p:cNvPr>
          <p:cNvSpPr>
            <a:spLocks noGrp="1"/>
          </p:cNvSpPr>
          <p:nvPr/>
        </p:nvSpPr>
        <p:spPr>
          <a:xfrm>
            <a:off x="8591550" y="2247900"/>
            <a:ext cx="2838450" cy="733425"/>
          </a:xfrm>
          <a:prstGeom prst="rect">
            <a:avLst/>
          </a:prstGeom>
          <a:noFill/>
          <a:ln w="0">
            <a:noFill/>
            <a:prstDash val="solid"/>
          </a:ln>
        </p:spPr>
        <p:txBody>
          <a:bodyPr wrap="square" lIns="0" tIns="0" rIns="0" bIns="0" anchor="t">
            <a:noAutofit/>
          </a:bodyPr>
          <a:lstStyle/>
          <a:p>
            <a:pPr algn="l">
              <a:lnSpc>
                <a:spcPct val="102000"/>
              </a:lnSpc>
              <a:buNone/>
              <a:defRPr sz="1500" b="1">
                <a:solidFill>
                  <a:srgbClr val="17211B"/>
                </a:solidFill>
                <a:latin typeface="Helvetica Neue"/>
                <a:ea typeface="Helvetica Neue"/>
                <a:cs typeface="Helvetica Neue"/>
              </a:defRPr>
            </a:pPr>
            <a:r>
              <a:rPr sz="1500" b="1">
                <a:solidFill>
                  <a:srgbClr val="17211B"/>
                </a:solidFill>
                <a:latin typeface="Helvetica Neue"/>
                <a:ea typeface="Helvetica Neue"/>
                <a:cs typeface="Helvetica Neue"/>
              </a:rPr>
              <a:t>Deterministic metrics reveal the cash tension.</a:t>
            </a:r>
          </a:p>
        </p:txBody>
      </p:sp>
      <p:sp>
        <p:nvSpPr>
          <p:cNvPr id="9" name="walk-rule-0">
            <a:extLst>
              <a:ext uri="{FF2B5EF4-FFF2-40B4-BE49-F238E27FC236}">
                <a16:creationId xmlns:a16="http://schemas.microsoft.com/office/drawing/2014/main" id="{8BD71DD3-EADB-49D2-9331-D1F5DA1A5F59}"/>
              </a:ext>
            </a:extLst>
          </p:cNvPr>
          <p:cNvSpPr>
            <a:spLocks noGrp="1"/>
          </p:cNvSpPr>
          <p:nvPr/>
        </p:nvSpPr>
        <p:spPr>
          <a:xfrm>
            <a:off x="8591550" y="3048000"/>
            <a:ext cx="2838450" cy="0"/>
          </a:xfrm>
          <a:prstGeom prst="line">
            <a:avLst/>
          </a:prstGeom>
          <a:noFill/>
          <a:ln w="9525">
            <a:solidFill>
              <a:srgbClr val="D9DED9"/>
            </a:solidFill>
            <a:prstDash val="solid"/>
          </a:ln>
        </p:spPr>
      </p:sp>
      <p:sp>
        <p:nvSpPr>
          <p:cNvPr id="10" name="walk-label-1">
            <a:extLst>
              <a:ext uri="{FF2B5EF4-FFF2-40B4-BE49-F238E27FC236}">
                <a16:creationId xmlns:a16="http://schemas.microsoft.com/office/drawing/2014/main" id="{14FD5BF6-90A2-4627-BD21-60447CCBC34A}"/>
              </a:ext>
            </a:extLst>
          </p:cNvPr>
          <p:cNvSpPr>
            <a:spLocks noGrp="1"/>
          </p:cNvSpPr>
          <p:nvPr/>
        </p:nvSpPr>
        <p:spPr>
          <a:xfrm>
            <a:off x="8591550" y="3305175"/>
            <a:ext cx="1000125" cy="247650"/>
          </a:xfrm>
          <a:prstGeom prst="rect">
            <a:avLst/>
          </a:prstGeom>
          <a:noFill/>
          <a:ln w="0">
            <a:noFill/>
            <a:prstDash val="solid"/>
          </a:ln>
        </p:spPr>
        <p:txBody>
          <a:bodyPr wrap="square" lIns="0" tIns="0" rIns="0" bIns="0" anchor="t">
            <a:noAutofit/>
          </a:bodyPr>
          <a:lstStyle/>
          <a:p>
            <a:pPr algn="l">
              <a:lnSpc>
                <a:spcPct val="100000"/>
              </a:lnSpc>
              <a:buNone/>
              <a:defRPr sz="1125" b="1">
                <a:solidFill>
                  <a:srgbClr val="0E6B50"/>
                </a:solidFill>
                <a:latin typeface="Helvetica Neue"/>
                <a:ea typeface="Helvetica Neue"/>
                <a:cs typeface="Helvetica Neue"/>
              </a:defRPr>
            </a:pPr>
            <a:r>
              <a:rPr sz="1125" b="1">
                <a:solidFill>
                  <a:srgbClr val="0E6B50"/>
                </a:solidFill>
                <a:latin typeface="Helvetica Neue"/>
                <a:ea typeface="Helvetica Neue"/>
                <a:cs typeface="Helvetica Neue"/>
              </a:rPr>
              <a:t>ASK</a:t>
            </a:r>
          </a:p>
        </p:txBody>
      </p:sp>
      <p:sp>
        <p:nvSpPr>
          <p:cNvPr id="11" name="walk-body-1">
            <a:extLst>
              <a:ext uri="{FF2B5EF4-FFF2-40B4-BE49-F238E27FC236}">
                <a16:creationId xmlns:a16="http://schemas.microsoft.com/office/drawing/2014/main" id="{C1379308-83F6-4312-87C3-8003B1FB0351}"/>
              </a:ext>
            </a:extLst>
          </p:cNvPr>
          <p:cNvSpPr>
            <a:spLocks noGrp="1"/>
          </p:cNvSpPr>
          <p:nvPr/>
        </p:nvSpPr>
        <p:spPr>
          <a:xfrm>
            <a:off x="8591550" y="3638550"/>
            <a:ext cx="2838450" cy="733425"/>
          </a:xfrm>
          <a:prstGeom prst="rect">
            <a:avLst/>
          </a:prstGeom>
          <a:noFill/>
          <a:ln w="0">
            <a:noFill/>
            <a:prstDash val="solid"/>
          </a:ln>
        </p:spPr>
        <p:txBody>
          <a:bodyPr wrap="square" lIns="0" tIns="0" rIns="0" bIns="0" anchor="t">
            <a:noAutofit/>
          </a:bodyPr>
          <a:lstStyle/>
          <a:p>
            <a:pPr algn="l">
              <a:lnSpc>
                <a:spcPct val="102000"/>
              </a:lnSpc>
              <a:buNone/>
              <a:defRPr sz="1500" b="1">
                <a:solidFill>
                  <a:srgbClr val="17211B"/>
                </a:solidFill>
                <a:latin typeface="Helvetica Neue"/>
                <a:ea typeface="Helvetica Neue"/>
                <a:cs typeface="Helvetica Neue"/>
              </a:defRPr>
            </a:pPr>
            <a:r>
              <a:rPr sz="1500" b="1">
                <a:solidFill>
                  <a:srgbClr val="17211B"/>
                </a:solidFill>
                <a:latin typeface="Helvetica Neue"/>
                <a:ea typeface="Helvetica Neue"/>
                <a:cs typeface="Helvetica Neue"/>
              </a:rPr>
              <a:t>The question stays close to the decision.</a:t>
            </a:r>
          </a:p>
        </p:txBody>
      </p:sp>
      <p:sp>
        <p:nvSpPr>
          <p:cNvPr id="12" name="walk-rule-1">
            <a:extLst>
              <a:ext uri="{FF2B5EF4-FFF2-40B4-BE49-F238E27FC236}">
                <a16:creationId xmlns:a16="http://schemas.microsoft.com/office/drawing/2014/main" id="{C1D19499-6F2C-430A-898C-ADA444B71E06}"/>
              </a:ext>
            </a:extLst>
          </p:cNvPr>
          <p:cNvSpPr>
            <a:spLocks noGrp="1"/>
          </p:cNvSpPr>
          <p:nvPr/>
        </p:nvSpPr>
        <p:spPr>
          <a:xfrm>
            <a:off x="8591550" y="4438650"/>
            <a:ext cx="2838450" cy="0"/>
          </a:xfrm>
          <a:prstGeom prst="line">
            <a:avLst/>
          </a:prstGeom>
          <a:noFill/>
          <a:ln w="9525">
            <a:solidFill>
              <a:srgbClr val="D9DED9"/>
            </a:solidFill>
            <a:prstDash val="solid"/>
          </a:ln>
        </p:spPr>
      </p:sp>
      <p:sp>
        <p:nvSpPr>
          <p:cNvPr id="13" name="walk-label-2">
            <a:extLst>
              <a:ext uri="{FF2B5EF4-FFF2-40B4-BE49-F238E27FC236}">
                <a16:creationId xmlns:a16="http://schemas.microsoft.com/office/drawing/2014/main" id="{BBEA8D3B-DC6B-4B15-9C87-DA39806A6FA3}"/>
              </a:ext>
            </a:extLst>
          </p:cNvPr>
          <p:cNvSpPr>
            <a:spLocks noGrp="1"/>
          </p:cNvSpPr>
          <p:nvPr/>
        </p:nvSpPr>
        <p:spPr>
          <a:xfrm>
            <a:off x="8591550" y="4695825"/>
            <a:ext cx="1000125" cy="247650"/>
          </a:xfrm>
          <a:prstGeom prst="rect">
            <a:avLst/>
          </a:prstGeom>
          <a:noFill/>
          <a:ln w="0">
            <a:noFill/>
            <a:prstDash val="solid"/>
          </a:ln>
        </p:spPr>
        <p:txBody>
          <a:bodyPr wrap="square" lIns="0" tIns="0" rIns="0" bIns="0" anchor="t">
            <a:noAutofit/>
          </a:bodyPr>
          <a:lstStyle/>
          <a:p>
            <a:pPr algn="l">
              <a:lnSpc>
                <a:spcPct val="100000"/>
              </a:lnSpc>
              <a:buNone/>
              <a:defRPr sz="1125" b="1">
                <a:solidFill>
                  <a:srgbClr val="0E6B50"/>
                </a:solidFill>
                <a:latin typeface="Helvetica Neue"/>
                <a:ea typeface="Helvetica Neue"/>
                <a:cs typeface="Helvetica Neue"/>
              </a:defRPr>
            </a:pPr>
            <a:r>
              <a:rPr sz="1125" b="1">
                <a:solidFill>
                  <a:srgbClr val="0E6B50"/>
                </a:solidFill>
                <a:latin typeface="Helvetica Neue"/>
                <a:ea typeface="Helvetica Neue"/>
                <a:cs typeface="Helvetica Neue"/>
              </a:rPr>
              <a:t>ACT</a:t>
            </a:r>
          </a:p>
        </p:txBody>
      </p:sp>
      <p:sp>
        <p:nvSpPr>
          <p:cNvPr id="14" name="walk-body-2">
            <a:extLst>
              <a:ext uri="{FF2B5EF4-FFF2-40B4-BE49-F238E27FC236}">
                <a16:creationId xmlns:a16="http://schemas.microsoft.com/office/drawing/2014/main" id="{B95F97B2-40AC-45D0-8037-18E914DFAA93}"/>
              </a:ext>
            </a:extLst>
          </p:cNvPr>
          <p:cNvSpPr>
            <a:spLocks noGrp="1"/>
          </p:cNvSpPr>
          <p:nvPr/>
        </p:nvSpPr>
        <p:spPr>
          <a:xfrm>
            <a:off x="8591550" y="5029200"/>
            <a:ext cx="2838450" cy="733425"/>
          </a:xfrm>
          <a:prstGeom prst="rect">
            <a:avLst/>
          </a:prstGeom>
          <a:noFill/>
          <a:ln w="0">
            <a:noFill/>
            <a:prstDash val="solid"/>
          </a:ln>
        </p:spPr>
        <p:txBody>
          <a:bodyPr wrap="square" lIns="0" tIns="0" rIns="0" bIns="0" anchor="t">
            <a:noAutofit/>
          </a:bodyPr>
          <a:lstStyle/>
          <a:p>
            <a:pPr algn="l">
              <a:lnSpc>
                <a:spcPct val="102000"/>
              </a:lnSpc>
              <a:buNone/>
              <a:defRPr sz="1500" b="1">
                <a:solidFill>
                  <a:srgbClr val="17211B"/>
                </a:solidFill>
                <a:latin typeface="Helvetica Neue"/>
                <a:ea typeface="Helvetica Neue"/>
                <a:cs typeface="Helvetica Neue"/>
              </a:defRPr>
            </a:pPr>
            <a:r>
              <a:rPr sz="1500" b="1">
                <a:solidFill>
                  <a:srgbClr val="17211B"/>
                </a:solidFill>
                <a:latin typeface="Helvetica Neue"/>
                <a:ea typeface="Helvetica Neue"/>
                <a:cs typeface="Helvetica Neue"/>
              </a:rPr>
              <a:t>Receivables and scenarios turn insight into sequence.</a:t>
            </a:r>
          </a:p>
        </p:txBody>
      </p:sp>
    </p:spTree>
    <p:extLst>
      <p:ext uri="{BB962C8B-B14F-4D97-AF65-F5344CB8AC3E}">
        <p14:creationId xmlns:p14="http://schemas.microsoft.com/office/powerpoint/2010/main" val="43068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eyebrow-5">
            <a:extLst>
              <a:ext uri="{FF2B5EF4-FFF2-40B4-BE49-F238E27FC236}">
                <a16:creationId xmlns:a16="http://schemas.microsoft.com/office/drawing/2014/main" id="{FD8DFC1B-49B5-46B7-BFA1-DFEBAA68366A}"/>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5">
            <a:extLst>
              <a:ext uri="{FF2B5EF4-FFF2-40B4-BE49-F238E27FC236}">
                <a16:creationId xmlns:a16="http://schemas.microsoft.com/office/drawing/2014/main" id="{EF8BAEA2-F8A3-44B1-AAF5-72737224B515}"/>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AI interprets intent; code owns every number.</a:t>
            </a:r>
          </a:p>
        </p:txBody>
      </p:sp>
      <p:sp>
        <p:nvSpPr>
          <p:cNvPr id="3" name="header-rule-5">
            <a:extLst>
              <a:ext uri="{FF2B5EF4-FFF2-40B4-BE49-F238E27FC236}">
                <a16:creationId xmlns:a16="http://schemas.microsoft.com/office/drawing/2014/main" id="{391D9FC2-1450-4D58-BD7C-1287CF776F23}"/>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5">
            <a:extLst>
              <a:ext uri="{FF2B5EF4-FFF2-40B4-BE49-F238E27FC236}">
                <a16:creationId xmlns:a16="http://schemas.microsoft.com/office/drawing/2014/main" id="{33171951-55FE-4393-A809-5A693D2E9F68}"/>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05</a:t>
            </a:r>
          </a:p>
        </p:txBody>
      </p:sp>
      <p:sp>
        <p:nvSpPr>
          <p:cNvPr id="5" name="trust-subtitle">
            <a:extLst>
              <a:ext uri="{FF2B5EF4-FFF2-40B4-BE49-F238E27FC236}">
                <a16:creationId xmlns:a16="http://schemas.microsoft.com/office/drawing/2014/main" id="{A7C561E7-BF55-44E0-9565-7215F5EB4A3F}"/>
              </a:ext>
            </a:extLst>
          </p:cNvPr>
          <p:cNvSpPr>
            <a:spLocks noGrp="1"/>
          </p:cNvSpPr>
          <p:nvPr/>
        </p:nvSpPr>
        <p:spPr>
          <a:xfrm>
            <a:off x="457200" y="1638300"/>
            <a:ext cx="10668000" cy="457200"/>
          </a:xfrm>
          <a:prstGeom prst="rect">
            <a:avLst/>
          </a:prstGeom>
          <a:noFill/>
          <a:ln w="0">
            <a:noFill/>
            <a:prstDash val="solid"/>
          </a:ln>
        </p:spPr>
        <p:txBody>
          <a:bodyPr wrap="square" lIns="0" tIns="0" rIns="0" bIns="0" anchor="t">
            <a:noAutofit/>
          </a:bodyPr>
          <a:lstStyle/>
          <a:p>
            <a:pPr algn="l">
              <a:lnSpc>
                <a:spcPct val="100000"/>
              </a:lnSpc>
              <a:buNone/>
              <a:defRPr sz="1575" b="0">
                <a:solidFill>
                  <a:srgbClr val="59665F"/>
                </a:solidFill>
                <a:latin typeface="Helvetica Neue"/>
                <a:ea typeface="Helvetica Neue"/>
                <a:cs typeface="Helvetica Neue"/>
              </a:defRPr>
            </a:pPr>
            <a:r>
              <a:rPr sz="1575" b="0">
                <a:solidFill>
                  <a:srgbClr val="59665F"/>
                </a:solidFill>
                <a:latin typeface="Helvetica Neue"/>
                <a:ea typeface="Helvetica Neue"/>
                <a:cs typeface="Helvetica Neue"/>
              </a:rPr>
              <a:t>The browser sends only a business ID and an untrusted question. The server rebuilds the evidence boundary.</a:t>
            </a:r>
          </a:p>
        </p:txBody>
      </p:sp>
      <p:sp>
        <p:nvSpPr>
          <p:cNvPr id="6" name="trust-node-0">
            <a:extLst>
              <a:ext uri="{FF2B5EF4-FFF2-40B4-BE49-F238E27FC236}">
                <a16:creationId xmlns:a16="http://schemas.microsoft.com/office/drawing/2014/main" id="{CA7AE4D9-12FE-4631-BC5E-A229170994AD}"/>
              </a:ext>
            </a:extLst>
          </p:cNvPr>
          <p:cNvSpPr>
            <a:spLocks noGrp="1"/>
          </p:cNvSpPr>
          <p:nvPr/>
        </p:nvSpPr>
        <p:spPr>
          <a:xfrm>
            <a:off x="457200" y="2705100"/>
            <a:ext cx="1543050" cy="1733550"/>
          </a:xfrm>
          <a:prstGeom prst="rect">
            <a:avLst/>
          </a:prstGeom>
          <a:solidFill>
            <a:srgbClr val="EDEDED"/>
          </a:solidFill>
          <a:ln w="9525">
            <a:solidFill>
              <a:srgbClr val="B8BCC4"/>
            </a:solidFill>
            <a:prstDash val="solid"/>
          </a:ln>
        </p:spPr>
      </p:sp>
      <p:sp>
        <p:nvSpPr>
          <p:cNvPr id="7" name="trust-index-0">
            <a:extLst>
              <a:ext uri="{FF2B5EF4-FFF2-40B4-BE49-F238E27FC236}">
                <a16:creationId xmlns:a16="http://schemas.microsoft.com/office/drawing/2014/main" id="{8EF66E40-41EE-407E-90EE-76AF9D5AF6F3}"/>
              </a:ext>
            </a:extLst>
          </p:cNvPr>
          <p:cNvSpPr>
            <a:spLocks noGrp="1"/>
          </p:cNvSpPr>
          <p:nvPr/>
        </p:nvSpPr>
        <p:spPr>
          <a:xfrm>
            <a:off x="59055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01</a:t>
            </a:r>
          </a:p>
        </p:txBody>
      </p:sp>
      <p:sp>
        <p:nvSpPr>
          <p:cNvPr id="8" name="trust-title-0">
            <a:extLst>
              <a:ext uri="{FF2B5EF4-FFF2-40B4-BE49-F238E27FC236}">
                <a16:creationId xmlns:a16="http://schemas.microsoft.com/office/drawing/2014/main" id="{47D7D9F9-B063-46BE-974D-7EF23A5470F4}"/>
              </a:ext>
            </a:extLst>
          </p:cNvPr>
          <p:cNvSpPr>
            <a:spLocks noGrp="1"/>
          </p:cNvSpPr>
          <p:nvPr/>
        </p:nvSpPr>
        <p:spPr>
          <a:xfrm>
            <a:off x="59055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Synthetic</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profiles</a:t>
            </a:r>
          </a:p>
        </p:txBody>
      </p:sp>
      <p:sp>
        <p:nvSpPr>
          <p:cNvPr id="9" name="trust-sub-0">
            <a:extLst>
              <a:ext uri="{FF2B5EF4-FFF2-40B4-BE49-F238E27FC236}">
                <a16:creationId xmlns:a16="http://schemas.microsoft.com/office/drawing/2014/main" id="{C53F932A-5731-4A65-A1CD-E87055463CF3}"/>
              </a:ext>
            </a:extLst>
          </p:cNvPr>
          <p:cNvSpPr>
            <a:spLocks noGrp="1"/>
          </p:cNvSpPr>
          <p:nvPr/>
        </p:nvSpPr>
        <p:spPr>
          <a:xfrm>
            <a:off x="59055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server-side data</a:t>
            </a:r>
          </a:p>
        </p:txBody>
      </p:sp>
      <p:sp>
        <p:nvSpPr>
          <p:cNvPr id="10" name="trust-node-1">
            <a:extLst>
              <a:ext uri="{FF2B5EF4-FFF2-40B4-BE49-F238E27FC236}">
                <a16:creationId xmlns:a16="http://schemas.microsoft.com/office/drawing/2014/main" id="{8DFBA196-C2A4-43B1-A922-8F01FD050645}"/>
              </a:ext>
            </a:extLst>
          </p:cNvPr>
          <p:cNvSpPr>
            <a:spLocks noGrp="1"/>
          </p:cNvSpPr>
          <p:nvPr/>
        </p:nvSpPr>
        <p:spPr>
          <a:xfrm>
            <a:off x="2305050" y="2705100"/>
            <a:ext cx="1543050" cy="1733550"/>
          </a:xfrm>
          <a:prstGeom prst="rect">
            <a:avLst/>
          </a:prstGeom>
          <a:solidFill>
            <a:srgbClr val="E9F3EF"/>
          </a:solidFill>
          <a:ln w="9525">
            <a:solidFill>
              <a:srgbClr val="0E6B50"/>
            </a:solidFill>
            <a:prstDash val="solid"/>
          </a:ln>
        </p:spPr>
      </p:sp>
      <p:sp>
        <p:nvSpPr>
          <p:cNvPr id="11" name="trust-index-1">
            <a:extLst>
              <a:ext uri="{FF2B5EF4-FFF2-40B4-BE49-F238E27FC236}">
                <a16:creationId xmlns:a16="http://schemas.microsoft.com/office/drawing/2014/main" id="{B64A8BCA-F127-4B7D-B9D2-56238303DFB8}"/>
              </a:ext>
            </a:extLst>
          </p:cNvPr>
          <p:cNvSpPr>
            <a:spLocks noGrp="1"/>
          </p:cNvSpPr>
          <p:nvPr/>
        </p:nvSpPr>
        <p:spPr>
          <a:xfrm>
            <a:off x="243840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02</a:t>
            </a:r>
          </a:p>
        </p:txBody>
      </p:sp>
      <p:sp>
        <p:nvSpPr>
          <p:cNvPr id="12" name="trust-title-1">
            <a:extLst>
              <a:ext uri="{FF2B5EF4-FFF2-40B4-BE49-F238E27FC236}">
                <a16:creationId xmlns:a16="http://schemas.microsoft.com/office/drawing/2014/main" id="{ED404224-AF3B-4A95-81F3-82D4AC180C15}"/>
              </a:ext>
            </a:extLst>
          </p:cNvPr>
          <p:cNvSpPr>
            <a:spLocks noGrp="1"/>
          </p:cNvSpPr>
          <p:nvPr/>
        </p:nvSpPr>
        <p:spPr>
          <a:xfrm>
            <a:off x="243840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Finance</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engine</a:t>
            </a:r>
          </a:p>
        </p:txBody>
      </p:sp>
      <p:sp>
        <p:nvSpPr>
          <p:cNvPr id="13" name="trust-sub-1">
            <a:extLst>
              <a:ext uri="{FF2B5EF4-FFF2-40B4-BE49-F238E27FC236}">
                <a16:creationId xmlns:a16="http://schemas.microsoft.com/office/drawing/2014/main" id="{A0C72B1E-E754-41C1-ACB2-477F445C4078}"/>
              </a:ext>
            </a:extLst>
          </p:cNvPr>
          <p:cNvSpPr>
            <a:spLocks noGrp="1"/>
          </p:cNvSpPr>
          <p:nvPr/>
        </p:nvSpPr>
        <p:spPr>
          <a:xfrm>
            <a:off x="243840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trusted figures</a:t>
            </a:r>
          </a:p>
        </p:txBody>
      </p:sp>
      <p:sp>
        <p:nvSpPr>
          <p:cNvPr id="14" name="trust-node-2">
            <a:extLst>
              <a:ext uri="{FF2B5EF4-FFF2-40B4-BE49-F238E27FC236}">
                <a16:creationId xmlns:a16="http://schemas.microsoft.com/office/drawing/2014/main" id="{64E2B453-491D-4846-98C0-86FA258984D1}"/>
              </a:ext>
            </a:extLst>
          </p:cNvPr>
          <p:cNvSpPr>
            <a:spLocks noGrp="1"/>
          </p:cNvSpPr>
          <p:nvPr/>
        </p:nvSpPr>
        <p:spPr>
          <a:xfrm>
            <a:off x="4152900" y="2705100"/>
            <a:ext cx="1543050" cy="1733550"/>
          </a:xfrm>
          <a:prstGeom prst="rect">
            <a:avLst/>
          </a:prstGeom>
          <a:solidFill>
            <a:srgbClr val="EDEDED"/>
          </a:solidFill>
          <a:ln w="9525">
            <a:solidFill>
              <a:srgbClr val="B8BCC4"/>
            </a:solidFill>
            <a:prstDash val="solid"/>
          </a:ln>
        </p:spPr>
      </p:sp>
      <p:sp>
        <p:nvSpPr>
          <p:cNvPr id="15" name="trust-index-2">
            <a:extLst>
              <a:ext uri="{FF2B5EF4-FFF2-40B4-BE49-F238E27FC236}">
                <a16:creationId xmlns:a16="http://schemas.microsoft.com/office/drawing/2014/main" id="{2B1E9212-FA51-448E-A675-8318827FB5CE}"/>
              </a:ext>
            </a:extLst>
          </p:cNvPr>
          <p:cNvSpPr>
            <a:spLocks noGrp="1"/>
          </p:cNvSpPr>
          <p:nvPr/>
        </p:nvSpPr>
        <p:spPr>
          <a:xfrm>
            <a:off x="428625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03</a:t>
            </a:r>
          </a:p>
        </p:txBody>
      </p:sp>
      <p:sp>
        <p:nvSpPr>
          <p:cNvPr id="16" name="trust-title-2">
            <a:extLst>
              <a:ext uri="{FF2B5EF4-FFF2-40B4-BE49-F238E27FC236}">
                <a16:creationId xmlns:a16="http://schemas.microsoft.com/office/drawing/2014/main" id="{5DCE9B2A-FFE7-4265-9155-3B8A42C90FD8}"/>
              </a:ext>
            </a:extLst>
          </p:cNvPr>
          <p:cNvSpPr>
            <a:spLocks noGrp="1"/>
          </p:cNvSpPr>
          <p:nvPr/>
        </p:nvSpPr>
        <p:spPr>
          <a:xfrm>
            <a:off x="428625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Question +</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business ID</a:t>
            </a:r>
          </a:p>
        </p:txBody>
      </p:sp>
      <p:sp>
        <p:nvSpPr>
          <p:cNvPr id="17" name="trust-sub-2">
            <a:extLst>
              <a:ext uri="{FF2B5EF4-FFF2-40B4-BE49-F238E27FC236}">
                <a16:creationId xmlns:a16="http://schemas.microsoft.com/office/drawing/2014/main" id="{22E34DD1-B3E2-41C4-8889-9CEBD52EA81B}"/>
              </a:ext>
            </a:extLst>
          </p:cNvPr>
          <p:cNvSpPr>
            <a:spLocks noGrp="1"/>
          </p:cNvSpPr>
          <p:nvPr/>
        </p:nvSpPr>
        <p:spPr>
          <a:xfrm>
            <a:off x="428625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untrusted input</a:t>
            </a:r>
          </a:p>
        </p:txBody>
      </p:sp>
      <p:sp>
        <p:nvSpPr>
          <p:cNvPr id="18" name="trust-node-3">
            <a:extLst>
              <a:ext uri="{FF2B5EF4-FFF2-40B4-BE49-F238E27FC236}">
                <a16:creationId xmlns:a16="http://schemas.microsoft.com/office/drawing/2014/main" id="{C053C988-B42C-4923-9872-C2B4CC8EA36E}"/>
              </a:ext>
            </a:extLst>
          </p:cNvPr>
          <p:cNvSpPr>
            <a:spLocks noGrp="1"/>
          </p:cNvSpPr>
          <p:nvPr/>
        </p:nvSpPr>
        <p:spPr>
          <a:xfrm>
            <a:off x="6000750" y="2705100"/>
            <a:ext cx="1543050" cy="1733550"/>
          </a:xfrm>
          <a:prstGeom prst="rect">
            <a:avLst/>
          </a:prstGeom>
          <a:solidFill>
            <a:srgbClr val="FFF3DE"/>
          </a:solidFill>
          <a:ln w="19050">
            <a:solidFill>
              <a:srgbClr val="8A4B08"/>
            </a:solidFill>
            <a:prstDash val="solid"/>
          </a:ln>
        </p:spPr>
      </p:sp>
      <p:sp>
        <p:nvSpPr>
          <p:cNvPr id="19" name="trust-index-3">
            <a:extLst>
              <a:ext uri="{FF2B5EF4-FFF2-40B4-BE49-F238E27FC236}">
                <a16:creationId xmlns:a16="http://schemas.microsoft.com/office/drawing/2014/main" id="{F3E770F5-0308-46D6-89A3-05571A046462}"/>
              </a:ext>
            </a:extLst>
          </p:cNvPr>
          <p:cNvSpPr>
            <a:spLocks noGrp="1"/>
          </p:cNvSpPr>
          <p:nvPr/>
        </p:nvSpPr>
        <p:spPr>
          <a:xfrm>
            <a:off x="613410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04</a:t>
            </a:r>
          </a:p>
        </p:txBody>
      </p:sp>
      <p:sp>
        <p:nvSpPr>
          <p:cNvPr id="20" name="trust-title-3">
            <a:extLst>
              <a:ext uri="{FF2B5EF4-FFF2-40B4-BE49-F238E27FC236}">
                <a16:creationId xmlns:a16="http://schemas.microsoft.com/office/drawing/2014/main" id="{4925AC8B-1A07-407C-8216-28D9673E2D4A}"/>
              </a:ext>
            </a:extLst>
          </p:cNvPr>
          <p:cNvSpPr>
            <a:spLocks noGrp="1"/>
          </p:cNvSpPr>
          <p:nvPr/>
        </p:nvSpPr>
        <p:spPr>
          <a:xfrm>
            <a:off x="613410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AI ranks</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approved IDs</a:t>
            </a:r>
          </a:p>
        </p:txBody>
      </p:sp>
      <p:sp>
        <p:nvSpPr>
          <p:cNvPr id="21" name="trust-sub-3">
            <a:extLst>
              <a:ext uri="{FF2B5EF4-FFF2-40B4-BE49-F238E27FC236}">
                <a16:creationId xmlns:a16="http://schemas.microsoft.com/office/drawing/2014/main" id="{90F7CA97-BB53-4BCF-92EA-613A00CEC1ED}"/>
              </a:ext>
            </a:extLst>
          </p:cNvPr>
          <p:cNvSpPr>
            <a:spLocks noGrp="1"/>
          </p:cNvSpPr>
          <p:nvPr/>
        </p:nvSpPr>
        <p:spPr>
          <a:xfrm>
            <a:off x="613410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constrained selection</a:t>
            </a:r>
          </a:p>
        </p:txBody>
      </p:sp>
      <p:sp>
        <p:nvSpPr>
          <p:cNvPr id="22" name="trust-node-4">
            <a:extLst>
              <a:ext uri="{FF2B5EF4-FFF2-40B4-BE49-F238E27FC236}">
                <a16:creationId xmlns:a16="http://schemas.microsoft.com/office/drawing/2014/main" id="{7289A33B-D6D3-45E3-B287-0215219B24D7}"/>
              </a:ext>
            </a:extLst>
          </p:cNvPr>
          <p:cNvSpPr>
            <a:spLocks noGrp="1"/>
          </p:cNvSpPr>
          <p:nvPr/>
        </p:nvSpPr>
        <p:spPr>
          <a:xfrm>
            <a:off x="7848600" y="2705100"/>
            <a:ext cx="1543050" cy="1733550"/>
          </a:xfrm>
          <a:prstGeom prst="rect">
            <a:avLst/>
          </a:prstGeom>
          <a:solidFill>
            <a:srgbClr val="E9F3EF"/>
          </a:solidFill>
          <a:ln w="9525">
            <a:solidFill>
              <a:srgbClr val="0E6B50"/>
            </a:solidFill>
            <a:prstDash val="solid"/>
          </a:ln>
        </p:spPr>
      </p:sp>
      <p:sp>
        <p:nvSpPr>
          <p:cNvPr id="23" name="trust-index-4">
            <a:extLst>
              <a:ext uri="{FF2B5EF4-FFF2-40B4-BE49-F238E27FC236}">
                <a16:creationId xmlns:a16="http://schemas.microsoft.com/office/drawing/2014/main" id="{1EFEC682-8A99-4714-B7A1-66841C4BB20F}"/>
              </a:ext>
            </a:extLst>
          </p:cNvPr>
          <p:cNvSpPr>
            <a:spLocks noGrp="1"/>
          </p:cNvSpPr>
          <p:nvPr/>
        </p:nvSpPr>
        <p:spPr>
          <a:xfrm>
            <a:off x="798195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05</a:t>
            </a:r>
          </a:p>
        </p:txBody>
      </p:sp>
      <p:sp>
        <p:nvSpPr>
          <p:cNvPr id="24" name="trust-title-4">
            <a:extLst>
              <a:ext uri="{FF2B5EF4-FFF2-40B4-BE49-F238E27FC236}">
                <a16:creationId xmlns:a16="http://schemas.microsoft.com/office/drawing/2014/main" id="{76B85EB9-0F61-40EB-B95C-43340C32FFA7}"/>
              </a:ext>
            </a:extLst>
          </p:cNvPr>
          <p:cNvSpPr>
            <a:spLocks noGrp="1"/>
          </p:cNvSpPr>
          <p:nvPr/>
        </p:nvSpPr>
        <p:spPr>
          <a:xfrm>
            <a:off x="798195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Zod + evidence</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validation</a:t>
            </a:r>
          </a:p>
        </p:txBody>
      </p:sp>
      <p:sp>
        <p:nvSpPr>
          <p:cNvPr id="25" name="trust-sub-4">
            <a:extLst>
              <a:ext uri="{FF2B5EF4-FFF2-40B4-BE49-F238E27FC236}">
                <a16:creationId xmlns:a16="http://schemas.microsoft.com/office/drawing/2014/main" id="{C5218296-E9E9-4E09-8390-2E6764FCD7ED}"/>
              </a:ext>
            </a:extLst>
          </p:cNvPr>
          <p:cNvSpPr>
            <a:spLocks noGrp="1"/>
          </p:cNvSpPr>
          <p:nvPr/>
        </p:nvSpPr>
        <p:spPr>
          <a:xfrm>
            <a:off x="798195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business-scoped</a:t>
            </a:r>
          </a:p>
        </p:txBody>
      </p:sp>
      <p:sp>
        <p:nvSpPr>
          <p:cNvPr id="26" name="trust-node-5">
            <a:extLst>
              <a:ext uri="{FF2B5EF4-FFF2-40B4-BE49-F238E27FC236}">
                <a16:creationId xmlns:a16="http://schemas.microsoft.com/office/drawing/2014/main" id="{7A93ED83-119B-491E-90EF-DCFFC4F6C6AE}"/>
              </a:ext>
            </a:extLst>
          </p:cNvPr>
          <p:cNvSpPr>
            <a:spLocks noGrp="1"/>
          </p:cNvSpPr>
          <p:nvPr/>
        </p:nvSpPr>
        <p:spPr>
          <a:xfrm>
            <a:off x="9696450" y="2705100"/>
            <a:ext cx="1543050" cy="1733550"/>
          </a:xfrm>
          <a:prstGeom prst="rect">
            <a:avLst/>
          </a:prstGeom>
          <a:solidFill>
            <a:srgbClr val="EDEDED"/>
          </a:solidFill>
          <a:ln w="9525">
            <a:solidFill>
              <a:srgbClr val="B8BCC4"/>
            </a:solidFill>
            <a:prstDash val="solid"/>
          </a:ln>
        </p:spPr>
      </p:sp>
      <p:sp>
        <p:nvSpPr>
          <p:cNvPr id="27" name="trust-index-5">
            <a:extLst>
              <a:ext uri="{FF2B5EF4-FFF2-40B4-BE49-F238E27FC236}">
                <a16:creationId xmlns:a16="http://schemas.microsoft.com/office/drawing/2014/main" id="{98B9E025-BDD2-4C41-8415-D124D9FB3AB8}"/>
              </a:ext>
            </a:extLst>
          </p:cNvPr>
          <p:cNvSpPr>
            <a:spLocks noGrp="1"/>
          </p:cNvSpPr>
          <p:nvPr/>
        </p:nvSpPr>
        <p:spPr>
          <a:xfrm>
            <a:off x="9829800" y="2847975"/>
            <a:ext cx="409575" cy="219075"/>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06</a:t>
            </a:r>
          </a:p>
        </p:txBody>
      </p:sp>
      <p:sp>
        <p:nvSpPr>
          <p:cNvPr id="28" name="trust-title-5">
            <a:extLst>
              <a:ext uri="{FF2B5EF4-FFF2-40B4-BE49-F238E27FC236}">
                <a16:creationId xmlns:a16="http://schemas.microsoft.com/office/drawing/2014/main" id="{3A64A7F6-66B6-4180-ADE3-8E74BF040D75}"/>
              </a:ext>
            </a:extLst>
          </p:cNvPr>
          <p:cNvSpPr>
            <a:spLocks noGrp="1"/>
          </p:cNvSpPr>
          <p:nvPr/>
        </p:nvSpPr>
        <p:spPr>
          <a:xfrm>
            <a:off x="9829800" y="3219450"/>
            <a:ext cx="1276350" cy="63817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Bilingual</a:t>
            </a:r>
          </a:p>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answer</a:t>
            </a:r>
          </a:p>
        </p:txBody>
      </p:sp>
      <p:sp>
        <p:nvSpPr>
          <p:cNvPr id="29" name="trust-sub-5">
            <a:extLst>
              <a:ext uri="{FF2B5EF4-FFF2-40B4-BE49-F238E27FC236}">
                <a16:creationId xmlns:a16="http://schemas.microsoft.com/office/drawing/2014/main" id="{6189012C-132F-42B4-B164-BDF5FA878D8A}"/>
              </a:ext>
            </a:extLst>
          </p:cNvPr>
          <p:cNvSpPr>
            <a:spLocks noGrp="1"/>
          </p:cNvSpPr>
          <p:nvPr/>
        </p:nvSpPr>
        <p:spPr>
          <a:xfrm>
            <a:off x="9829800" y="4038600"/>
            <a:ext cx="1276350" cy="238125"/>
          </a:xfrm>
          <a:prstGeom prst="rect">
            <a:avLst/>
          </a:prstGeom>
          <a:noFill/>
          <a:ln w="0">
            <a:noFill/>
            <a:prstDash val="solid"/>
          </a:ln>
        </p:spPr>
        <p:txBody>
          <a:bodyPr wrap="square" lIns="0" tIns="0" rIns="0" bIns="0" anchor="t">
            <a:noAutofit/>
          </a:bodyPr>
          <a:lstStyle/>
          <a:p>
            <a:pPr algn="l">
              <a:lnSpc>
                <a:spcPct val="100000"/>
              </a:lnSpc>
              <a:buNone/>
              <a:defRPr sz="1050" b="0">
                <a:solidFill>
                  <a:srgbClr val="59665F"/>
                </a:solidFill>
                <a:latin typeface="Helvetica Neue"/>
                <a:ea typeface="Helvetica Neue"/>
                <a:cs typeface="Helvetica Neue"/>
              </a:defRPr>
            </a:pPr>
            <a:r>
              <a:rPr sz="1050" b="0">
                <a:solidFill>
                  <a:srgbClr val="59665F"/>
                </a:solidFill>
                <a:latin typeface="Helvetica Neue"/>
                <a:ea typeface="Helvetica Neue"/>
                <a:cs typeface="Helvetica Neue"/>
              </a:rPr>
              <a:t>model or fallback</a:t>
            </a:r>
          </a:p>
        </p:txBody>
      </p:sp>
      <p:sp>
        <p:nvSpPr>
          <p:cNvPr id="30" name="trust-arrow-0">
            <a:extLst>
              <a:ext uri="{FF2B5EF4-FFF2-40B4-BE49-F238E27FC236}">
                <a16:creationId xmlns:a16="http://schemas.microsoft.com/office/drawing/2014/main" id="{ADFB7418-CD59-4167-979D-104F45CFAA52}"/>
              </a:ext>
            </a:extLst>
          </p:cNvPr>
          <p:cNvSpPr>
            <a:spLocks noGrp="1"/>
          </p:cNvSpPr>
          <p:nvPr/>
        </p:nvSpPr>
        <p:spPr>
          <a:xfrm>
            <a:off x="2028825" y="3476625"/>
            <a:ext cx="304800" cy="133350"/>
          </a:xfrm>
          <a:prstGeom prst="rightArrow">
            <a:avLst/>
          </a:prstGeom>
          <a:solidFill>
            <a:srgbClr val="07523D"/>
          </a:solidFill>
          <a:ln w="0">
            <a:noFill/>
            <a:prstDash val="solid"/>
          </a:ln>
        </p:spPr>
      </p:sp>
      <p:sp>
        <p:nvSpPr>
          <p:cNvPr id="31" name="trust-arrow-1">
            <a:extLst>
              <a:ext uri="{FF2B5EF4-FFF2-40B4-BE49-F238E27FC236}">
                <a16:creationId xmlns:a16="http://schemas.microsoft.com/office/drawing/2014/main" id="{2B719ECF-467A-4ED7-8D40-7409E1340826}"/>
              </a:ext>
            </a:extLst>
          </p:cNvPr>
          <p:cNvSpPr>
            <a:spLocks noGrp="1"/>
          </p:cNvSpPr>
          <p:nvPr/>
        </p:nvSpPr>
        <p:spPr>
          <a:xfrm>
            <a:off x="3876675" y="3476625"/>
            <a:ext cx="304800" cy="133350"/>
          </a:xfrm>
          <a:prstGeom prst="rightArrow">
            <a:avLst/>
          </a:prstGeom>
          <a:solidFill>
            <a:srgbClr val="07523D"/>
          </a:solidFill>
          <a:ln w="0">
            <a:noFill/>
            <a:prstDash val="solid"/>
          </a:ln>
        </p:spPr>
      </p:sp>
      <p:sp>
        <p:nvSpPr>
          <p:cNvPr id="32" name="trust-arrow-2">
            <a:extLst>
              <a:ext uri="{FF2B5EF4-FFF2-40B4-BE49-F238E27FC236}">
                <a16:creationId xmlns:a16="http://schemas.microsoft.com/office/drawing/2014/main" id="{C385ADB1-3B7D-4446-9469-9E6D6C435603}"/>
              </a:ext>
            </a:extLst>
          </p:cNvPr>
          <p:cNvSpPr>
            <a:spLocks noGrp="1"/>
          </p:cNvSpPr>
          <p:nvPr/>
        </p:nvSpPr>
        <p:spPr>
          <a:xfrm>
            <a:off x="5724525" y="3476625"/>
            <a:ext cx="304800" cy="133350"/>
          </a:xfrm>
          <a:prstGeom prst="rightArrow">
            <a:avLst/>
          </a:prstGeom>
          <a:solidFill>
            <a:srgbClr val="07523D"/>
          </a:solidFill>
          <a:ln w="0">
            <a:noFill/>
            <a:prstDash val="solid"/>
          </a:ln>
        </p:spPr>
      </p:sp>
      <p:sp>
        <p:nvSpPr>
          <p:cNvPr id="33" name="trust-arrow-3">
            <a:extLst>
              <a:ext uri="{FF2B5EF4-FFF2-40B4-BE49-F238E27FC236}">
                <a16:creationId xmlns:a16="http://schemas.microsoft.com/office/drawing/2014/main" id="{A8165D87-DC19-4CC7-9A61-F3DC234878C3}"/>
              </a:ext>
            </a:extLst>
          </p:cNvPr>
          <p:cNvSpPr>
            <a:spLocks noGrp="1"/>
          </p:cNvSpPr>
          <p:nvPr/>
        </p:nvSpPr>
        <p:spPr>
          <a:xfrm>
            <a:off x="7572375" y="3476625"/>
            <a:ext cx="304800" cy="133350"/>
          </a:xfrm>
          <a:prstGeom prst="rightArrow">
            <a:avLst/>
          </a:prstGeom>
          <a:solidFill>
            <a:srgbClr val="07523D"/>
          </a:solidFill>
          <a:ln w="0">
            <a:noFill/>
            <a:prstDash val="solid"/>
          </a:ln>
        </p:spPr>
      </p:sp>
      <p:sp>
        <p:nvSpPr>
          <p:cNvPr id="34" name="trust-arrow-4">
            <a:extLst>
              <a:ext uri="{FF2B5EF4-FFF2-40B4-BE49-F238E27FC236}">
                <a16:creationId xmlns:a16="http://schemas.microsoft.com/office/drawing/2014/main" id="{F94FA349-92ED-4C40-BD63-C89AEFC44618}"/>
              </a:ext>
            </a:extLst>
          </p:cNvPr>
          <p:cNvSpPr>
            <a:spLocks noGrp="1"/>
          </p:cNvSpPr>
          <p:nvPr/>
        </p:nvSpPr>
        <p:spPr>
          <a:xfrm>
            <a:off x="9420225" y="3476625"/>
            <a:ext cx="304800" cy="133350"/>
          </a:xfrm>
          <a:prstGeom prst="rightArrow">
            <a:avLst/>
          </a:prstGeom>
          <a:solidFill>
            <a:srgbClr val="07523D"/>
          </a:solidFill>
          <a:ln w="0">
            <a:noFill/>
            <a:prstDash val="solid"/>
          </a:ln>
        </p:spPr>
      </p:sp>
      <p:sp>
        <p:nvSpPr>
          <p:cNvPr id="35" name="trust-lower-rule">
            <a:extLst>
              <a:ext uri="{FF2B5EF4-FFF2-40B4-BE49-F238E27FC236}">
                <a16:creationId xmlns:a16="http://schemas.microsoft.com/office/drawing/2014/main" id="{4068AA6C-764A-45E7-9E4A-583816FA6ADD}"/>
              </a:ext>
            </a:extLst>
          </p:cNvPr>
          <p:cNvSpPr>
            <a:spLocks noGrp="1"/>
          </p:cNvSpPr>
          <p:nvPr/>
        </p:nvSpPr>
        <p:spPr>
          <a:xfrm>
            <a:off x="457200" y="5029200"/>
            <a:ext cx="11125200" cy="0"/>
          </a:xfrm>
          <a:prstGeom prst="line">
            <a:avLst/>
          </a:prstGeom>
          <a:noFill/>
          <a:ln w="9525">
            <a:solidFill>
              <a:srgbClr val="D9DED9"/>
            </a:solidFill>
            <a:prstDash val="solid"/>
          </a:ln>
        </p:spPr>
      </p:sp>
      <p:sp>
        <p:nvSpPr>
          <p:cNvPr id="36" name="trust-check-0">
            <a:extLst>
              <a:ext uri="{FF2B5EF4-FFF2-40B4-BE49-F238E27FC236}">
                <a16:creationId xmlns:a16="http://schemas.microsoft.com/office/drawing/2014/main" id="{2DEA08A8-4A79-43B3-99CA-1D01A8C75C84}"/>
              </a:ext>
            </a:extLst>
          </p:cNvPr>
          <p:cNvSpPr>
            <a:spLocks noGrp="1"/>
          </p:cNvSpPr>
          <p:nvPr/>
        </p:nvSpPr>
        <p:spPr>
          <a:xfrm>
            <a:off x="457200" y="5305425"/>
            <a:ext cx="323850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NO CLIENT-SUPPLIED METRICS</a:t>
            </a:r>
          </a:p>
        </p:txBody>
      </p:sp>
      <p:sp>
        <p:nvSpPr>
          <p:cNvPr id="37" name="trust-check-body-0">
            <a:extLst>
              <a:ext uri="{FF2B5EF4-FFF2-40B4-BE49-F238E27FC236}">
                <a16:creationId xmlns:a16="http://schemas.microsoft.com/office/drawing/2014/main" id="{C485044E-5C85-4570-ADAF-1D8A0D298F08}"/>
              </a:ext>
            </a:extLst>
          </p:cNvPr>
          <p:cNvSpPr>
            <a:spLocks noGrp="1"/>
          </p:cNvSpPr>
          <p:nvPr/>
        </p:nvSpPr>
        <p:spPr>
          <a:xfrm>
            <a:off x="457200" y="5619750"/>
            <a:ext cx="3238500" cy="495300"/>
          </a:xfrm>
          <a:prstGeom prst="rect">
            <a:avLst/>
          </a:prstGeom>
          <a:noFill/>
          <a:ln w="0">
            <a:noFill/>
            <a:prstDash val="solid"/>
          </a:ln>
        </p:spPr>
        <p:txBody>
          <a:bodyPr wrap="square" lIns="0" tIns="0" rIns="0" bIns="0" anchor="t">
            <a:noAutofit/>
          </a:bodyPr>
          <a:lstStyle/>
          <a:p>
            <a:pPr algn="l">
              <a:lnSpc>
                <a:spcPct val="100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The route rebuilds facts from the selected profile.</a:t>
            </a:r>
          </a:p>
        </p:txBody>
      </p:sp>
      <p:sp>
        <p:nvSpPr>
          <p:cNvPr id="38" name="trust-check-1">
            <a:extLst>
              <a:ext uri="{FF2B5EF4-FFF2-40B4-BE49-F238E27FC236}">
                <a16:creationId xmlns:a16="http://schemas.microsoft.com/office/drawing/2014/main" id="{5A247186-C224-4585-A03F-8491DB3DA70B}"/>
              </a:ext>
            </a:extLst>
          </p:cNvPr>
          <p:cNvSpPr>
            <a:spLocks noGrp="1"/>
          </p:cNvSpPr>
          <p:nvPr/>
        </p:nvSpPr>
        <p:spPr>
          <a:xfrm>
            <a:off x="4229100" y="5305425"/>
            <a:ext cx="323850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NO FREE-FORM NUMBERS</a:t>
            </a:r>
          </a:p>
        </p:txBody>
      </p:sp>
      <p:sp>
        <p:nvSpPr>
          <p:cNvPr id="39" name="trust-check-body-1">
            <a:extLst>
              <a:ext uri="{FF2B5EF4-FFF2-40B4-BE49-F238E27FC236}">
                <a16:creationId xmlns:a16="http://schemas.microsoft.com/office/drawing/2014/main" id="{FCC47D5B-31B5-4C29-93A6-1AB3618DF0A4}"/>
              </a:ext>
            </a:extLst>
          </p:cNvPr>
          <p:cNvSpPr>
            <a:spLocks noGrp="1"/>
          </p:cNvSpPr>
          <p:nvPr/>
        </p:nvSpPr>
        <p:spPr>
          <a:xfrm>
            <a:off x="4229100" y="5619750"/>
            <a:ext cx="3238500" cy="495300"/>
          </a:xfrm>
          <a:prstGeom prst="rect">
            <a:avLst/>
          </a:prstGeom>
          <a:noFill/>
          <a:ln w="0">
            <a:noFill/>
            <a:prstDash val="solid"/>
          </a:ln>
        </p:spPr>
        <p:txBody>
          <a:bodyPr wrap="square" lIns="0" tIns="0" rIns="0" bIns="0" anchor="t">
            <a:noAutofit/>
          </a:bodyPr>
          <a:lstStyle/>
          <a:p>
            <a:pPr algn="l">
              <a:lnSpc>
                <a:spcPct val="100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The model selects codes; reviewed copy adds values after validation.</a:t>
            </a:r>
          </a:p>
        </p:txBody>
      </p:sp>
      <p:sp>
        <p:nvSpPr>
          <p:cNvPr id="40" name="trust-check-2">
            <a:extLst>
              <a:ext uri="{FF2B5EF4-FFF2-40B4-BE49-F238E27FC236}">
                <a16:creationId xmlns:a16="http://schemas.microsoft.com/office/drawing/2014/main" id="{839ABEAF-62AE-49DB-8638-F781EB1ED41A}"/>
              </a:ext>
            </a:extLst>
          </p:cNvPr>
          <p:cNvSpPr>
            <a:spLocks noGrp="1"/>
          </p:cNvSpPr>
          <p:nvPr/>
        </p:nvSpPr>
        <p:spPr>
          <a:xfrm>
            <a:off x="8001000" y="5305425"/>
            <a:ext cx="323850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FAIL CLOSED</a:t>
            </a:r>
          </a:p>
        </p:txBody>
      </p:sp>
      <p:sp>
        <p:nvSpPr>
          <p:cNvPr id="41" name="trust-check-body-2">
            <a:extLst>
              <a:ext uri="{FF2B5EF4-FFF2-40B4-BE49-F238E27FC236}">
                <a16:creationId xmlns:a16="http://schemas.microsoft.com/office/drawing/2014/main" id="{CFBD1116-226D-4B82-A6A1-244D0ACB2FBB}"/>
              </a:ext>
            </a:extLst>
          </p:cNvPr>
          <p:cNvSpPr>
            <a:spLocks noGrp="1"/>
          </p:cNvSpPr>
          <p:nvPr/>
        </p:nvSpPr>
        <p:spPr>
          <a:xfrm>
            <a:off x="8001000" y="5619750"/>
            <a:ext cx="3238500" cy="495300"/>
          </a:xfrm>
          <a:prstGeom prst="rect">
            <a:avLst/>
          </a:prstGeom>
          <a:noFill/>
          <a:ln w="0">
            <a:noFill/>
            <a:prstDash val="solid"/>
          </a:ln>
        </p:spPr>
        <p:txBody>
          <a:bodyPr wrap="square" lIns="0" tIns="0" rIns="0" bIns="0" anchor="t">
            <a:noAutofit/>
          </a:bodyPr>
          <a:lstStyle/>
          <a:p>
            <a:pPr algn="l">
              <a:lnSpc>
                <a:spcPct val="100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Timeout, malformed output or invalid evidence triggers a labeled fallback.</a:t>
            </a:r>
          </a:p>
        </p:txBody>
      </p:sp>
    </p:spTree>
    <p:extLst>
      <p:ext uri="{BB962C8B-B14F-4D97-AF65-F5344CB8AC3E}">
        <p14:creationId xmlns:p14="http://schemas.microsoft.com/office/powerpoint/2010/main" val="62012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3"/>
        </a:solidFill>
        <a:effectLst/>
      </p:bgPr>
    </p:bg>
    <p:spTree>
      <p:nvGrpSpPr>
        <p:cNvPr id="1" name=""/>
        <p:cNvGrpSpPr/>
        <p:nvPr/>
      </p:nvGrpSpPr>
      <p:grpSpPr>
        <a:xfrm>
          <a:off x="0" y="0"/>
          <a:ext cx="0" cy="0"/>
          <a:chOff x="0" y="0"/>
          <a:chExt cx="0" cy="0"/>
        </a:xfrm>
      </p:grpSpPr>
      <p:sp>
        <p:nvSpPr>
          <p:cNvPr id="12" name="eyebrow-6">
            <a:extLst>
              <a:ext uri="{FF2B5EF4-FFF2-40B4-BE49-F238E27FC236}">
                <a16:creationId xmlns:a16="http://schemas.microsoft.com/office/drawing/2014/main" id="{D6BD0434-9227-4829-A23F-AC3CC111C7B7}"/>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6">
            <a:extLst>
              <a:ext uri="{FF2B5EF4-FFF2-40B4-BE49-F238E27FC236}">
                <a16:creationId xmlns:a16="http://schemas.microsoft.com/office/drawing/2014/main" id="{CA41E684-4B75-443F-9E47-ED755B104E13}"/>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Burmese-first interaction, same financial truth.</a:t>
            </a:r>
          </a:p>
        </p:txBody>
      </p:sp>
      <p:sp>
        <p:nvSpPr>
          <p:cNvPr id="3" name="header-rule-6">
            <a:extLst>
              <a:ext uri="{FF2B5EF4-FFF2-40B4-BE49-F238E27FC236}">
                <a16:creationId xmlns:a16="http://schemas.microsoft.com/office/drawing/2014/main" id="{AB8188DE-6772-4BC5-8D2A-E4B179D9FEBA}"/>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6">
            <a:extLst>
              <a:ext uri="{FF2B5EF4-FFF2-40B4-BE49-F238E27FC236}">
                <a16:creationId xmlns:a16="http://schemas.microsoft.com/office/drawing/2014/main" id="{436A1415-FF0D-4A7A-AED8-1915DB620804}"/>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06</a:t>
            </a:r>
          </a:p>
        </p:txBody>
      </p:sp>
      <p:sp>
        <p:nvSpPr>
          <p:cNvPr id="5" name="bilingual-subtitle">
            <a:extLst>
              <a:ext uri="{FF2B5EF4-FFF2-40B4-BE49-F238E27FC236}">
                <a16:creationId xmlns:a16="http://schemas.microsoft.com/office/drawing/2014/main" id="{44A59D13-0CC2-4257-BEE6-2DD7E26BBBF3}"/>
              </a:ext>
            </a:extLst>
          </p:cNvPr>
          <p:cNvSpPr>
            <a:spLocks noGrp="1"/>
          </p:cNvSpPr>
          <p:nvPr/>
        </p:nvSpPr>
        <p:spPr>
          <a:xfrm>
            <a:off x="457200" y="1628775"/>
            <a:ext cx="8572500" cy="400050"/>
          </a:xfrm>
          <a:prstGeom prst="rect">
            <a:avLst/>
          </a:prstGeom>
          <a:noFill/>
          <a:ln w="0">
            <a:noFill/>
            <a:prstDash val="solid"/>
          </a:ln>
        </p:spPr>
        <p:txBody>
          <a:bodyPr wrap="square" lIns="0" tIns="0" rIns="0" bIns="0" anchor="t">
            <a:noAutofit/>
          </a:bodyPr>
          <a:lstStyle/>
          <a:p>
            <a:pPr algn="l">
              <a:lnSpc>
                <a:spcPct val="100000"/>
              </a:lnSpc>
              <a:buNone/>
              <a:defRPr sz="1575" b="0">
                <a:solidFill>
                  <a:srgbClr val="59665F"/>
                </a:solidFill>
                <a:latin typeface="Helvetica Neue"/>
                <a:ea typeface="Helvetica Neue"/>
                <a:cs typeface="Helvetica Neue"/>
              </a:defRPr>
            </a:pPr>
            <a:r>
              <a:rPr sz="1575" b="0">
                <a:solidFill>
                  <a:srgbClr val="59665F"/>
                </a:solidFill>
                <a:latin typeface="Helvetica Neue"/>
                <a:ea typeface="Helvetica Neue"/>
                <a:cs typeface="Helvetica Neue"/>
              </a:rPr>
              <a:t>The UI can localize the decision without changing where the numbers come from.</a:t>
            </a:r>
          </a:p>
        </p:txBody>
      </p:sp>
      <p:sp>
        <p:nvSpPr>
          <p:cNvPr id="6" name="answer-frame">
            <a:extLst>
              <a:ext uri="{FF2B5EF4-FFF2-40B4-BE49-F238E27FC236}">
                <a16:creationId xmlns:a16="http://schemas.microsoft.com/office/drawing/2014/main" id="{EA032CC5-5733-475F-AB40-EFEB8118C1D2}"/>
              </a:ext>
            </a:extLst>
          </p:cNvPr>
          <p:cNvSpPr>
            <a:spLocks noGrp="1"/>
          </p:cNvSpPr>
          <p:nvPr/>
        </p:nvSpPr>
        <p:spPr>
          <a:xfrm>
            <a:off x="457200" y="2171700"/>
            <a:ext cx="8477250" cy="4191000"/>
          </a:xfrm>
          <a:prstGeom prst="roundRect">
            <a:avLst>
              <a:gd name="adj" fmla="val 2273"/>
            </a:avLst>
          </a:prstGeom>
          <a:solidFill>
            <a:srgbClr val="FFFFFF"/>
          </a:solidFill>
          <a:ln w="9525">
            <a:solidFill>
              <a:srgbClr val="D9DED9"/>
            </a:solidFill>
            <a:prstDash val="solid"/>
          </a:ln>
        </p:spPr>
      </p:sp>
      <p:pic>
        <p:nvPicPr>
          <p:cNvPr id="18" name="Picture 17"/>
          <p:cNvPicPr>
            <a:picLocks noChangeAspect="1"/>
          </p:cNvPicPr>
          <p:nvPr/>
        </p:nvPicPr>
        <p:blipFill>
          <a:blip r:embed="rId3"/>
          <a:srcRect t="11379" b="11379"/>
          <a:stretch>
            <a:fillRect/>
          </a:stretch>
        </p:blipFill>
        <p:spPr>
          <a:xfrm>
            <a:off x="552450" y="2266950"/>
            <a:ext cx="8286750" cy="4000500"/>
          </a:xfrm>
          <a:prstGeom prst="roundRect">
            <a:avLst>
              <a:gd name="adj" fmla="val 1905"/>
            </a:avLst>
          </a:prstGeom>
        </p:spPr>
      </p:pic>
      <p:sp>
        <p:nvSpPr>
          <p:cNvPr id="8" name="mobile-frame">
            <a:extLst>
              <a:ext uri="{FF2B5EF4-FFF2-40B4-BE49-F238E27FC236}">
                <a16:creationId xmlns:a16="http://schemas.microsoft.com/office/drawing/2014/main" id="{B56FB367-2A0B-4105-A8EC-46888F2DC65E}"/>
              </a:ext>
            </a:extLst>
          </p:cNvPr>
          <p:cNvSpPr>
            <a:spLocks noGrp="1"/>
          </p:cNvSpPr>
          <p:nvPr/>
        </p:nvSpPr>
        <p:spPr>
          <a:xfrm>
            <a:off x="9353550" y="2076450"/>
            <a:ext cx="2190750" cy="4267200"/>
          </a:xfrm>
          <a:prstGeom prst="roundRect">
            <a:avLst>
              <a:gd name="adj" fmla="val 7826"/>
            </a:avLst>
          </a:prstGeom>
          <a:solidFill>
            <a:srgbClr val="FFFFFF"/>
          </a:solidFill>
          <a:ln w="9525">
            <a:solidFill>
              <a:srgbClr val="D9DED9"/>
            </a:solidFill>
            <a:prstDash val="solid"/>
          </a:ln>
        </p:spPr>
        <p:style>
          <a:lnRef idx="0">
            <a:scrgbClr r="0" g="0" b="0"/>
          </a:lnRef>
          <a:fillRef idx="0">
            <a:scrgbClr r="0" g="0" b="0"/>
          </a:fillRef>
          <a:effectRef idx="4">
            <a:scrgbClr r="0" g="0" b="0"/>
          </a:effectRef>
          <a:fontRef idx="major"/>
        </p:style>
      </p:sp>
      <p:pic>
        <p:nvPicPr>
          <p:cNvPr id="20" name="Picture 19"/>
          <p:cNvPicPr>
            <a:picLocks noChangeAspect="1"/>
          </p:cNvPicPr>
          <p:nvPr/>
        </p:nvPicPr>
        <p:blipFill>
          <a:blip r:embed="rId4"/>
          <a:srcRect l="6677" r="6677"/>
          <a:stretch>
            <a:fillRect/>
          </a:stretch>
        </p:blipFill>
        <p:spPr>
          <a:xfrm>
            <a:off x="9467850" y="2200275"/>
            <a:ext cx="1962150" cy="4019550"/>
          </a:xfrm>
          <a:prstGeom prst="roundRect">
            <a:avLst>
              <a:gd name="adj" fmla="val 6311"/>
            </a:avLst>
          </a:prstGeom>
        </p:spPr>
      </p:pic>
      <p:sp>
        <p:nvSpPr>
          <p:cNvPr id="10" name="mode-label">
            <a:extLst>
              <a:ext uri="{FF2B5EF4-FFF2-40B4-BE49-F238E27FC236}">
                <a16:creationId xmlns:a16="http://schemas.microsoft.com/office/drawing/2014/main" id="{B83A5B56-0356-4F2E-B687-4065D9168005}"/>
              </a:ext>
            </a:extLst>
          </p:cNvPr>
          <p:cNvSpPr>
            <a:spLocks noGrp="1"/>
          </p:cNvSpPr>
          <p:nvPr/>
        </p:nvSpPr>
        <p:spPr>
          <a:xfrm>
            <a:off x="7010400" y="5829300"/>
            <a:ext cx="1695450" cy="295275"/>
          </a:xfrm>
          <a:prstGeom prst="roundRect">
            <a:avLst>
              <a:gd name="adj" fmla="val 48387"/>
            </a:avLst>
          </a:prstGeom>
          <a:solidFill>
            <a:srgbClr val="FFF3DE"/>
          </a:solidFill>
          <a:ln w="0">
            <a:noFill/>
            <a:prstDash val="solid"/>
          </a:ln>
        </p:spPr>
      </p:sp>
      <p:sp>
        <p:nvSpPr>
          <p:cNvPr id="11" name="mode-label-text">
            <a:extLst>
              <a:ext uri="{FF2B5EF4-FFF2-40B4-BE49-F238E27FC236}">
                <a16:creationId xmlns:a16="http://schemas.microsoft.com/office/drawing/2014/main" id="{9A917095-6016-4658-BEC2-7A324CDD17A1}"/>
              </a:ext>
            </a:extLst>
          </p:cNvPr>
          <p:cNvSpPr>
            <a:spLocks noGrp="1"/>
          </p:cNvSpPr>
          <p:nvPr/>
        </p:nvSpPr>
        <p:spPr>
          <a:xfrm>
            <a:off x="7105650" y="5895975"/>
            <a:ext cx="1504950" cy="161925"/>
          </a:xfrm>
          <a:prstGeom prst="rect">
            <a:avLst/>
          </a:prstGeom>
          <a:noFill/>
          <a:ln w="0">
            <a:noFill/>
            <a:prstDash val="solid"/>
          </a:ln>
        </p:spPr>
        <p:txBody>
          <a:bodyPr wrap="square" lIns="0" tIns="0" rIns="0" bIns="0" anchor="t">
            <a:noAutofit/>
          </a:bodyPr>
          <a:lstStyle/>
          <a:p>
            <a:pPr algn="ctr">
              <a:lnSpc>
                <a:spcPct val="100000"/>
              </a:lnSpc>
              <a:buNone/>
              <a:defRPr sz="900" b="1">
                <a:solidFill>
                  <a:srgbClr val="8A4B08"/>
                </a:solidFill>
                <a:latin typeface="Helvetica Neue"/>
                <a:ea typeface="Helvetica Neue"/>
                <a:cs typeface="Helvetica Neue"/>
              </a:defRPr>
            </a:pPr>
            <a:r>
              <a:rPr sz="900" b="1">
                <a:solidFill>
                  <a:srgbClr val="8A4B08"/>
                </a:solidFill>
                <a:latin typeface="Helvetica Neue"/>
                <a:ea typeface="Helvetica Neue"/>
                <a:cs typeface="Helvetica Neue"/>
              </a:rPr>
              <a:t>LABELED FALLBACK</a:t>
            </a:r>
          </a:p>
        </p:txBody>
      </p:sp>
    </p:spTree>
    <p:extLst>
      <p:ext uri="{BB962C8B-B14F-4D97-AF65-F5344CB8AC3E}">
        <p14:creationId xmlns:p14="http://schemas.microsoft.com/office/powerpoint/2010/main" val="51408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eyebrow-7">
            <a:extLst>
              <a:ext uri="{FF2B5EF4-FFF2-40B4-BE49-F238E27FC236}">
                <a16:creationId xmlns:a16="http://schemas.microsoft.com/office/drawing/2014/main" id="{5D3373B1-8424-4F27-ACD5-82E37EDA78B7}"/>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7">
            <a:extLst>
              <a:ext uri="{FF2B5EF4-FFF2-40B4-BE49-F238E27FC236}">
                <a16:creationId xmlns:a16="http://schemas.microsoft.com/office/drawing/2014/main" id="{CDFED3AD-10D1-4E4C-8D33-7B53C722C442}"/>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The prototype already proves the core trust model.</a:t>
            </a:r>
          </a:p>
        </p:txBody>
      </p:sp>
      <p:sp>
        <p:nvSpPr>
          <p:cNvPr id="3" name="header-rule-7">
            <a:extLst>
              <a:ext uri="{FF2B5EF4-FFF2-40B4-BE49-F238E27FC236}">
                <a16:creationId xmlns:a16="http://schemas.microsoft.com/office/drawing/2014/main" id="{1716FFD0-FC5B-4268-A693-0BFE5238D6B8}"/>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7">
            <a:extLst>
              <a:ext uri="{FF2B5EF4-FFF2-40B4-BE49-F238E27FC236}">
                <a16:creationId xmlns:a16="http://schemas.microsoft.com/office/drawing/2014/main" id="{DAE0B3B9-4BE6-474D-894A-E41BC6CFE9B1}"/>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07</a:t>
            </a:r>
          </a:p>
        </p:txBody>
      </p:sp>
      <p:sp>
        <p:nvSpPr>
          <p:cNvPr id="5" name="proof-subtitle">
            <a:extLst>
              <a:ext uri="{FF2B5EF4-FFF2-40B4-BE49-F238E27FC236}">
                <a16:creationId xmlns:a16="http://schemas.microsoft.com/office/drawing/2014/main" id="{829DB55C-4A81-4ABA-BA4B-51FCB7FBB72F}"/>
              </a:ext>
            </a:extLst>
          </p:cNvPr>
          <p:cNvSpPr>
            <a:spLocks noGrp="1"/>
          </p:cNvSpPr>
          <p:nvPr/>
        </p:nvSpPr>
        <p:spPr>
          <a:xfrm>
            <a:off x="457200" y="1647825"/>
            <a:ext cx="10096500" cy="400050"/>
          </a:xfrm>
          <a:prstGeom prst="rect">
            <a:avLst/>
          </a:prstGeom>
          <a:noFill/>
          <a:ln w="0">
            <a:noFill/>
            <a:prstDash val="solid"/>
          </a:ln>
        </p:spPr>
        <p:txBody>
          <a:bodyPr wrap="square" lIns="0" tIns="0" rIns="0" bIns="0" anchor="t">
            <a:noAutofit/>
          </a:bodyPr>
          <a:lstStyle/>
          <a:p>
            <a:pPr algn="l">
              <a:lnSpc>
                <a:spcPct val="100000"/>
              </a:lnSpc>
              <a:buNone/>
              <a:defRPr sz="1575" b="0">
                <a:solidFill>
                  <a:srgbClr val="59665F"/>
                </a:solidFill>
                <a:latin typeface="Helvetica Neue"/>
                <a:ea typeface="Helvetica Neue"/>
                <a:cs typeface="Helvetica Neue"/>
              </a:defRPr>
            </a:pPr>
            <a:r>
              <a:rPr sz="1575" b="0">
                <a:solidFill>
                  <a:srgbClr val="59665F"/>
                </a:solidFill>
                <a:latin typeface="Helvetica Neue"/>
                <a:ea typeface="Helvetica Neue"/>
                <a:cs typeface="Helvetica Neue"/>
              </a:rPr>
              <a:t>The evidence is deliberately narrower than a production claim—but stronger than a concept screen.</a:t>
            </a:r>
          </a:p>
        </p:txBody>
      </p:sp>
      <p:sp>
        <p:nvSpPr>
          <p:cNvPr id="6" name="proof-value-0">
            <a:extLst>
              <a:ext uri="{FF2B5EF4-FFF2-40B4-BE49-F238E27FC236}">
                <a16:creationId xmlns:a16="http://schemas.microsoft.com/office/drawing/2014/main" id="{5FEAF614-2F19-4181-8641-703F71D02C94}"/>
              </a:ext>
            </a:extLst>
          </p:cNvPr>
          <p:cNvSpPr>
            <a:spLocks noGrp="1"/>
          </p:cNvSpPr>
          <p:nvPr/>
        </p:nvSpPr>
        <p:spPr>
          <a:xfrm>
            <a:off x="457200" y="2714625"/>
            <a:ext cx="2286000" cy="933450"/>
          </a:xfrm>
          <a:prstGeom prst="rect">
            <a:avLst/>
          </a:prstGeom>
          <a:noFill/>
          <a:ln w="0">
            <a:noFill/>
            <a:prstDash val="solid"/>
          </a:ln>
        </p:spPr>
        <p:txBody>
          <a:bodyPr wrap="square" lIns="0" tIns="0" rIns="0" bIns="0" anchor="t">
            <a:noAutofit/>
          </a:bodyPr>
          <a:lstStyle/>
          <a:p>
            <a:pPr algn="l">
              <a:lnSpc>
                <a:spcPct val="100000"/>
              </a:lnSpc>
              <a:buNone/>
              <a:defRPr sz="4425" b="1">
                <a:solidFill>
                  <a:srgbClr val="17211B"/>
                </a:solidFill>
                <a:latin typeface="Helvetica Neue"/>
                <a:ea typeface="Helvetica Neue"/>
                <a:cs typeface="Helvetica Neue"/>
              </a:defRPr>
            </a:pPr>
            <a:r>
              <a:rPr sz="4425" b="1">
                <a:solidFill>
                  <a:srgbClr val="17211B"/>
                </a:solidFill>
                <a:latin typeface="Helvetica Neue"/>
                <a:ea typeface="Helvetica Neue"/>
                <a:cs typeface="Helvetica Neue"/>
              </a:rPr>
              <a:t>3</a:t>
            </a:r>
          </a:p>
        </p:txBody>
      </p:sp>
      <p:sp>
        <p:nvSpPr>
          <p:cNvPr id="7" name="proof-label-0">
            <a:extLst>
              <a:ext uri="{FF2B5EF4-FFF2-40B4-BE49-F238E27FC236}">
                <a16:creationId xmlns:a16="http://schemas.microsoft.com/office/drawing/2014/main" id="{D7539D36-2877-401E-B227-0D02E68D29CA}"/>
              </a:ext>
            </a:extLst>
          </p:cNvPr>
          <p:cNvSpPr>
            <a:spLocks noGrp="1"/>
          </p:cNvSpPr>
          <p:nvPr/>
        </p:nvSpPr>
        <p:spPr>
          <a:xfrm>
            <a:off x="457200" y="3876675"/>
            <a:ext cx="2286000" cy="61912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synthetic SME profiles</a:t>
            </a:r>
          </a:p>
        </p:txBody>
      </p:sp>
      <p:sp>
        <p:nvSpPr>
          <p:cNvPr id="8" name="proof-sub-0">
            <a:extLst>
              <a:ext uri="{FF2B5EF4-FFF2-40B4-BE49-F238E27FC236}">
                <a16:creationId xmlns:a16="http://schemas.microsoft.com/office/drawing/2014/main" id="{E4B814A8-1B9E-4ECB-BC09-0EA34BD24A67}"/>
              </a:ext>
            </a:extLst>
          </p:cNvPr>
          <p:cNvSpPr>
            <a:spLocks noGrp="1"/>
          </p:cNvSpPr>
          <p:nvPr/>
        </p:nvSpPr>
        <p:spPr>
          <a:xfrm>
            <a:off x="457200" y="4695825"/>
            <a:ext cx="2286000" cy="619125"/>
          </a:xfrm>
          <a:prstGeom prst="rect">
            <a:avLst/>
          </a:prstGeom>
          <a:noFill/>
          <a:ln w="0">
            <a:noFill/>
            <a:prstDash val="solid"/>
          </a:ln>
        </p:spPr>
        <p:txBody>
          <a:bodyPr wrap="square" lIns="0" tIns="0" rIns="0" bIns="0" anchor="t">
            <a:noAutofit/>
          </a:bodyPr>
          <a:lstStyle/>
          <a:p>
            <a:pPr algn="l">
              <a:lnSpc>
                <a:spcPct val="105000"/>
              </a:lnSpc>
              <a:buNone/>
              <a:defRPr sz="1200" b="0">
                <a:solidFill>
                  <a:srgbClr val="59665F"/>
                </a:solidFill>
                <a:latin typeface="Helvetica Neue"/>
                <a:ea typeface="Helvetica Neue"/>
                <a:cs typeface="Helvetica Neue"/>
              </a:defRPr>
            </a:pPr>
            <a:r>
              <a:rPr sz="1200" b="0">
                <a:solidFill>
                  <a:srgbClr val="59665F"/>
                </a:solidFill>
                <a:latin typeface="Helvetica Neue"/>
                <a:ea typeface="Helvetica Neue"/>
                <a:cs typeface="Helvetica Neue"/>
              </a:rPr>
              <a:t>Tea shop • fashion • distribution</a:t>
            </a:r>
          </a:p>
        </p:txBody>
      </p:sp>
      <p:sp>
        <p:nvSpPr>
          <p:cNvPr id="9" name="proof-divider-1">
            <a:extLst>
              <a:ext uri="{FF2B5EF4-FFF2-40B4-BE49-F238E27FC236}">
                <a16:creationId xmlns:a16="http://schemas.microsoft.com/office/drawing/2014/main" id="{7B8724D9-57DA-4776-A660-D582938C6E85}"/>
              </a:ext>
            </a:extLst>
          </p:cNvPr>
          <p:cNvSpPr>
            <a:spLocks noGrp="1"/>
          </p:cNvSpPr>
          <p:nvPr/>
        </p:nvSpPr>
        <p:spPr>
          <a:xfrm>
            <a:off x="3000375" y="2619375"/>
            <a:ext cx="0" cy="2486025"/>
          </a:xfrm>
          <a:prstGeom prst="line">
            <a:avLst/>
          </a:prstGeom>
          <a:noFill/>
          <a:ln w="9525">
            <a:solidFill>
              <a:srgbClr val="D9DED9"/>
            </a:solidFill>
            <a:prstDash val="solid"/>
          </a:ln>
        </p:spPr>
      </p:sp>
      <p:sp>
        <p:nvSpPr>
          <p:cNvPr id="10" name="proof-value-1">
            <a:extLst>
              <a:ext uri="{FF2B5EF4-FFF2-40B4-BE49-F238E27FC236}">
                <a16:creationId xmlns:a16="http://schemas.microsoft.com/office/drawing/2014/main" id="{4BACBEDF-9FB6-4271-BE71-4BEABB5AEA90}"/>
              </a:ext>
            </a:extLst>
          </p:cNvPr>
          <p:cNvSpPr>
            <a:spLocks noGrp="1"/>
          </p:cNvSpPr>
          <p:nvPr/>
        </p:nvSpPr>
        <p:spPr>
          <a:xfrm>
            <a:off x="3238500" y="2714625"/>
            <a:ext cx="2286000" cy="933450"/>
          </a:xfrm>
          <a:prstGeom prst="rect">
            <a:avLst/>
          </a:prstGeom>
          <a:noFill/>
          <a:ln w="0">
            <a:noFill/>
            <a:prstDash val="solid"/>
          </a:ln>
        </p:spPr>
        <p:txBody>
          <a:bodyPr wrap="square" lIns="0" tIns="0" rIns="0" bIns="0" anchor="t">
            <a:noAutofit/>
          </a:bodyPr>
          <a:lstStyle/>
          <a:p>
            <a:pPr algn="l">
              <a:lnSpc>
                <a:spcPct val="100000"/>
              </a:lnSpc>
              <a:buNone/>
              <a:defRPr sz="4425" b="1">
                <a:solidFill>
                  <a:srgbClr val="0E6B50"/>
                </a:solidFill>
                <a:latin typeface="Helvetica Neue"/>
                <a:ea typeface="Helvetica Neue"/>
                <a:cs typeface="Helvetica Neue"/>
              </a:defRPr>
            </a:pPr>
            <a:r>
              <a:rPr sz="4425" b="1">
                <a:solidFill>
                  <a:srgbClr val="0E6B50"/>
                </a:solidFill>
                <a:latin typeface="Helvetica Neue"/>
                <a:ea typeface="Helvetica Neue"/>
                <a:cs typeface="Helvetica Neue"/>
              </a:rPr>
              <a:t>43/43</a:t>
            </a:r>
          </a:p>
        </p:txBody>
      </p:sp>
      <p:sp>
        <p:nvSpPr>
          <p:cNvPr id="11" name="proof-label-1">
            <a:extLst>
              <a:ext uri="{FF2B5EF4-FFF2-40B4-BE49-F238E27FC236}">
                <a16:creationId xmlns:a16="http://schemas.microsoft.com/office/drawing/2014/main" id="{27A372E9-DF19-48E2-BDBE-EA56879FE3EC}"/>
              </a:ext>
            </a:extLst>
          </p:cNvPr>
          <p:cNvSpPr>
            <a:spLocks noGrp="1"/>
          </p:cNvSpPr>
          <p:nvPr/>
        </p:nvSpPr>
        <p:spPr>
          <a:xfrm>
            <a:off x="3238500" y="3876675"/>
            <a:ext cx="2286000" cy="61912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automated tests passing</a:t>
            </a:r>
          </a:p>
        </p:txBody>
      </p:sp>
      <p:sp>
        <p:nvSpPr>
          <p:cNvPr id="12" name="proof-sub-1">
            <a:extLst>
              <a:ext uri="{FF2B5EF4-FFF2-40B4-BE49-F238E27FC236}">
                <a16:creationId xmlns:a16="http://schemas.microsoft.com/office/drawing/2014/main" id="{49BBC1CC-EB3F-4DFF-8260-28BF313716C5}"/>
              </a:ext>
            </a:extLst>
          </p:cNvPr>
          <p:cNvSpPr>
            <a:spLocks noGrp="1"/>
          </p:cNvSpPr>
          <p:nvPr/>
        </p:nvSpPr>
        <p:spPr>
          <a:xfrm>
            <a:off x="3238500" y="4695825"/>
            <a:ext cx="2286000" cy="619125"/>
          </a:xfrm>
          <a:prstGeom prst="rect">
            <a:avLst/>
          </a:prstGeom>
          <a:noFill/>
          <a:ln w="0">
            <a:noFill/>
            <a:prstDash val="solid"/>
          </a:ln>
        </p:spPr>
        <p:txBody>
          <a:bodyPr wrap="square" lIns="0" tIns="0" rIns="0" bIns="0" anchor="t">
            <a:noAutofit/>
          </a:bodyPr>
          <a:lstStyle/>
          <a:p>
            <a:pPr algn="l">
              <a:lnSpc>
                <a:spcPct val="105000"/>
              </a:lnSpc>
              <a:buNone/>
              <a:defRPr sz="1200" b="0">
                <a:solidFill>
                  <a:srgbClr val="59665F"/>
                </a:solidFill>
                <a:latin typeface="Helvetica Neue"/>
                <a:ea typeface="Helvetica Neue"/>
                <a:cs typeface="Helvetica Neue"/>
              </a:defRPr>
            </a:pPr>
            <a:r>
              <a:rPr sz="1200" b="0">
                <a:solidFill>
                  <a:srgbClr val="59665F"/>
                </a:solidFill>
                <a:latin typeface="Helvetica Neue"/>
                <a:ea typeface="Helvetica Neue"/>
                <a:cs typeface="Helvetica Neue"/>
              </a:rPr>
              <a:t>Finance, AI contracts and isolation</a:t>
            </a:r>
          </a:p>
        </p:txBody>
      </p:sp>
      <p:sp>
        <p:nvSpPr>
          <p:cNvPr id="13" name="proof-divider-2">
            <a:extLst>
              <a:ext uri="{FF2B5EF4-FFF2-40B4-BE49-F238E27FC236}">
                <a16:creationId xmlns:a16="http://schemas.microsoft.com/office/drawing/2014/main" id="{932AD709-3BC6-4AF4-8971-B75CCC08F8D5}"/>
              </a:ext>
            </a:extLst>
          </p:cNvPr>
          <p:cNvSpPr>
            <a:spLocks noGrp="1"/>
          </p:cNvSpPr>
          <p:nvPr/>
        </p:nvSpPr>
        <p:spPr>
          <a:xfrm>
            <a:off x="5781675" y="2619375"/>
            <a:ext cx="0" cy="2486025"/>
          </a:xfrm>
          <a:prstGeom prst="line">
            <a:avLst/>
          </a:prstGeom>
          <a:noFill/>
          <a:ln w="9525">
            <a:solidFill>
              <a:srgbClr val="D9DED9"/>
            </a:solidFill>
            <a:prstDash val="solid"/>
          </a:ln>
        </p:spPr>
      </p:sp>
      <p:sp>
        <p:nvSpPr>
          <p:cNvPr id="14" name="proof-value-2">
            <a:extLst>
              <a:ext uri="{FF2B5EF4-FFF2-40B4-BE49-F238E27FC236}">
                <a16:creationId xmlns:a16="http://schemas.microsoft.com/office/drawing/2014/main" id="{D1934570-3F9F-49A4-8D8B-34511332334E}"/>
              </a:ext>
            </a:extLst>
          </p:cNvPr>
          <p:cNvSpPr>
            <a:spLocks noGrp="1"/>
          </p:cNvSpPr>
          <p:nvPr/>
        </p:nvSpPr>
        <p:spPr>
          <a:xfrm>
            <a:off x="6019800" y="2714625"/>
            <a:ext cx="2286000" cy="933450"/>
          </a:xfrm>
          <a:prstGeom prst="rect">
            <a:avLst/>
          </a:prstGeom>
          <a:noFill/>
          <a:ln w="0">
            <a:noFill/>
            <a:prstDash val="solid"/>
          </a:ln>
        </p:spPr>
        <p:txBody>
          <a:bodyPr wrap="square" lIns="0" tIns="0" rIns="0" bIns="0" anchor="t">
            <a:noAutofit/>
          </a:bodyPr>
          <a:lstStyle/>
          <a:p>
            <a:pPr algn="l">
              <a:lnSpc>
                <a:spcPct val="100000"/>
              </a:lnSpc>
              <a:buNone/>
              <a:defRPr sz="4425" b="1">
                <a:solidFill>
                  <a:srgbClr val="17211B"/>
                </a:solidFill>
                <a:latin typeface="Helvetica Neue"/>
                <a:ea typeface="Helvetica Neue"/>
                <a:cs typeface="Helvetica Neue"/>
              </a:defRPr>
            </a:pPr>
            <a:r>
              <a:rPr sz="4425" b="1">
                <a:solidFill>
                  <a:srgbClr val="17211B"/>
                </a:solidFill>
                <a:latin typeface="Helvetica Neue"/>
                <a:ea typeface="Helvetica Neue"/>
                <a:cs typeface="Helvetica Neue"/>
              </a:rPr>
              <a:t>6</a:t>
            </a:r>
          </a:p>
        </p:txBody>
      </p:sp>
      <p:sp>
        <p:nvSpPr>
          <p:cNvPr id="15" name="proof-label-2">
            <a:extLst>
              <a:ext uri="{FF2B5EF4-FFF2-40B4-BE49-F238E27FC236}">
                <a16:creationId xmlns:a16="http://schemas.microsoft.com/office/drawing/2014/main" id="{67A6B77F-59A6-421D-A372-EF89EED62299}"/>
              </a:ext>
            </a:extLst>
          </p:cNvPr>
          <p:cNvSpPr>
            <a:spLocks noGrp="1"/>
          </p:cNvSpPr>
          <p:nvPr/>
        </p:nvSpPr>
        <p:spPr>
          <a:xfrm>
            <a:off x="6019800" y="3876675"/>
            <a:ext cx="2286000" cy="61912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editable scenarios</a:t>
            </a:r>
          </a:p>
        </p:txBody>
      </p:sp>
      <p:sp>
        <p:nvSpPr>
          <p:cNvPr id="16" name="proof-sub-2">
            <a:extLst>
              <a:ext uri="{FF2B5EF4-FFF2-40B4-BE49-F238E27FC236}">
                <a16:creationId xmlns:a16="http://schemas.microsoft.com/office/drawing/2014/main" id="{B8981043-D6B0-42C6-BAC5-226FAFCF8EF6}"/>
              </a:ext>
            </a:extLst>
          </p:cNvPr>
          <p:cNvSpPr>
            <a:spLocks noGrp="1"/>
          </p:cNvSpPr>
          <p:nvPr/>
        </p:nvSpPr>
        <p:spPr>
          <a:xfrm>
            <a:off x="6019800" y="4695825"/>
            <a:ext cx="2286000" cy="619125"/>
          </a:xfrm>
          <a:prstGeom prst="rect">
            <a:avLst/>
          </a:prstGeom>
          <a:noFill/>
          <a:ln w="0">
            <a:noFill/>
            <a:prstDash val="solid"/>
          </a:ln>
        </p:spPr>
        <p:txBody>
          <a:bodyPr wrap="square" lIns="0" tIns="0" rIns="0" bIns="0" anchor="t">
            <a:noAutofit/>
          </a:bodyPr>
          <a:lstStyle/>
          <a:p>
            <a:pPr algn="l">
              <a:lnSpc>
                <a:spcPct val="105000"/>
              </a:lnSpc>
              <a:buNone/>
              <a:defRPr sz="1200" b="0">
                <a:solidFill>
                  <a:srgbClr val="59665F"/>
                </a:solidFill>
                <a:latin typeface="Helvetica Neue"/>
                <a:ea typeface="Helvetica Neue"/>
                <a:cs typeface="Helvetica Neue"/>
              </a:defRPr>
            </a:pPr>
            <a:r>
              <a:rPr sz="1200" b="0">
                <a:solidFill>
                  <a:srgbClr val="59665F"/>
                </a:solidFill>
                <a:latin typeface="Helvetica Neue"/>
                <a:ea typeface="Helvetica Neue"/>
                <a:cs typeface="Helvetica Neue"/>
              </a:rPr>
              <a:t>Sensitivity analysis—not forecasts</a:t>
            </a:r>
          </a:p>
        </p:txBody>
      </p:sp>
      <p:sp>
        <p:nvSpPr>
          <p:cNvPr id="17" name="proof-divider-3">
            <a:extLst>
              <a:ext uri="{FF2B5EF4-FFF2-40B4-BE49-F238E27FC236}">
                <a16:creationId xmlns:a16="http://schemas.microsoft.com/office/drawing/2014/main" id="{11C514D1-7072-4C3C-8711-CA5CDDD45371}"/>
              </a:ext>
            </a:extLst>
          </p:cNvPr>
          <p:cNvSpPr>
            <a:spLocks noGrp="1"/>
          </p:cNvSpPr>
          <p:nvPr/>
        </p:nvSpPr>
        <p:spPr>
          <a:xfrm>
            <a:off x="8562975" y="2619375"/>
            <a:ext cx="0" cy="2486025"/>
          </a:xfrm>
          <a:prstGeom prst="line">
            <a:avLst/>
          </a:prstGeom>
          <a:noFill/>
          <a:ln w="9525">
            <a:solidFill>
              <a:srgbClr val="D9DED9"/>
            </a:solidFill>
            <a:prstDash val="solid"/>
          </a:ln>
        </p:spPr>
      </p:sp>
      <p:sp>
        <p:nvSpPr>
          <p:cNvPr id="18" name="proof-value-3">
            <a:extLst>
              <a:ext uri="{FF2B5EF4-FFF2-40B4-BE49-F238E27FC236}">
                <a16:creationId xmlns:a16="http://schemas.microsoft.com/office/drawing/2014/main" id="{CDD5E41F-E960-46EB-9BBB-F4B0A9462A78}"/>
              </a:ext>
            </a:extLst>
          </p:cNvPr>
          <p:cNvSpPr>
            <a:spLocks noGrp="1"/>
          </p:cNvSpPr>
          <p:nvPr/>
        </p:nvSpPr>
        <p:spPr>
          <a:xfrm>
            <a:off x="8801100" y="2714625"/>
            <a:ext cx="2286000" cy="933450"/>
          </a:xfrm>
          <a:prstGeom prst="rect">
            <a:avLst/>
          </a:prstGeom>
          <a:noFill/>
          <a:ln w="0">
            <a:noFill/>
            <a:prstDash val="solid"/>
          </a:ln>
        </p:spPr>
        <p:txBody>
          <a:bodyPr wrap="square" lIns="0" tIns="0" rIns="0" bIns="0" anchor="t">
            <a:noAutofit/>
          </a:bodyPr>
          <a:lstStyle/>
          <a:p>
            <a:pPr algn="l">
              <a:lnSpc>
                <a:spcPct val="100000"/>
              </a:lnSpc>
              <a:buNone/>
              <a:defRPr sz="4425" b="1">
                <a:solidFill>
                  <a:srgbClr val="17211B"/>
                </a:solidFill>
                <a:latin typeface="Helvetica Neue"/>
                <a:ea typeface="Helvetica Neue"/>
                <a:cs typeface="Helvetica Neue"/>
              </a:defRPr>
            </a:pPr>
            <a:r>
              <a:rPr sz="4425" b="1">
                <a:solidFill>
                  <a:srgbClr val="17211B"/>
                </a:solidFill>
                <a:latin typeface="Helvetica Neue"/>
                <a:ea typeface="Helvetica Neue"/>
                <a:cs typeface="Helvetica Neue"/>
              </a:rPr>
              <a:t>0</a:t>
            </a:r>
          </a:p>
        </p:txBody>
      </p:sp>
      <p:sp>
        <p:nvSpPr>
          <p:cNvPr id="19" name="proof-label-3">
            <a:extLst>
              <a:ext uri="{FF2B5EF4-FFF2-40B4-BE49-F238E27FC236}">
                <a16:creationId xmlns:a16="http://schemas.microsoft.com/office/drawing/2014/main" id="{C6F3C951-7FB9-40E8-B8D2-34A7903A0078}"/>
              </a:ext>
            </a:extLst>
          </p:cNvPr>
          <p:cNvSpPr>
            <a:spLocks noGrp="1"/>
          </p:cNvSpPr>
          <p:nvPr/>
        </p:nvSpPr>
        <p:spPr>
          <a:xfrm>
            <a:off x="8801100" y="3876675"/>
            <a:ext cx="2286000" cy="619125"/>
          </a:xfrm>
          <a:prstGeom prst="rect">
            <a:avLst/>
          </a:prstGeom>
          <a:noFill/>
          <a:ln w="0">
            <a:noFill/>
            <a:prstDash val="solid"/>
          </a:ln>
        </p:spPr>
        <p:txBody>
          <a:bodyPr wrap="square" lIns="0" tIns="0" rIns="0" bIns="0" anchor="t">
            <a:noAutofit/>
          </a:bodyPr>
          <a:lstStyle/>
          <a:p>
            <a:pPr algn="l">
              <a:lnSpc>
                <a:spcPct val="95000"/>
              </a:lnSpc>
              <a:buNone/>
              <a:defRPr sz="1725" b="1">
                <a:solidFill>
                  <a:srgbClr val="17211B"/>
                </a:solidFill>
                <a:latin typeface="Helvetica Neue"/>
                <a:ea typeface="Helvetica Neue"/>
                <a:cs typeface="Helvetica Neue"/>
              </a:defRPr>
            </a:pPr>
            <a:r>
              <a:rPr sz="1725" b="1">
                <a:solidFill>
                  <a:srgbClr val="17211B"/>
                </a:solidFill>
                <a:latin typeface="Helvetica Neue"/>
                <a:ea typeface="Helvetica Neue"/>
                <a:cs typeface="Helvetica Neue"/>
              </a:rPr>
              <a:t>known npm audit findings</a:t>
            </a:r>
          </a:p>
        </p:txBody>
      </p:sp>
      <p:sp>
        <p:nvSpPr>
          <p:cNvPr id="20" name="proof-sub-3">
            <a:extLst>
              <a:ext uri="{FF2B5EF4-FFF2-40B4-BE49-F238E27FC236}">
                <a16:creationId xmlns:a16="http://schemas.microsoft.com/office/drawing/2014/main" id="{AC93473D-7E8E-4136-8F45-1A28AB3D6818}"/>
              </a:ext>
            </a:extLst>
          </p:cNvPr>
          <p:cNvSpPr>
            <a:spLocks noGrp="1"/>
          </p:cNvSpPr>
          <p:nvPr/>
        </p:nvSpPr>
        <p:spPr>
          <a:xfrm>
            <a:off x="8801100" y="4695825"/>
            <a:ext cx="2286000" cy="619125"/>
          </a:xfrm>
          <a:prstGeom prst="rect">
            <a:avLst/>
          </a:prstGeom>
          <a:noFill/>
          <a:ln w="0">
            <a:noFill/>
            <a:prstDash val="solid"/>
          </a:ln>
        </p:spPr>
        <p:txBody>
          <a:bodyPr wrap="square" lIns="0" tIns="0" rIns="0" bIns="0" anchor="t">
            <a:noAutofit/>
          </a:bodyPr>
          <a:lstStyle/>
          <a:p>
            <a:pPr algn="l">
              <a:lnSpc>
                <a:spcPct val="105000"/>
              </a:lnSpc>
              <a:buNone/>
              <a:defRPr sz="1200" b="0">
                <a:solidFill>
                  <a:srgbClr val="59665F"/>
                </a:solidFill>
                <a:latin typeface="Helvetica Neue"/>
                <a:ea typeface="Helvetica Neue"/>
                <a:cs typeface="Helvetica Neue"/>
              </a:defRPr>
            </a:pPr>
            <a:r>
              <a:rPr sz="1200" b="0">
                <a:solidFill>
                  <a:srgbClr val="59665F"/>
                </a:solidFill>
                <a:latin typeface="Helvetica Neue"/>
                <a:ea typeface="Helvetica Neue"/>
                <a:cs typeface="Helvetica Neue"/>
              </a:rPr>
              <a:t>Production dependencies, audit snapshot</a:t>
            </a:r>
          </a:p>
        </p:txBody>
      </p:sp>
      <p:sp>
        <p:nvSpPr>
          <p:cNvPr id="21" name="proof-band">
            <a:extLst>
              <a:ext uri="{FF2B5EF4-FFF2-40B4-BE49-F238E27FC236}">
                <a16:creationId xmlns:a16="http://schemas.microsoft.com/office/drawing/2014/main" id="{3BF82C1B-BD50-4221-A32C-08118BD92C56}"/>
              </a:ext>
            </a:extLst>
          </p:cNvPr>
          <p:cNvSpPr>
            <a:spLocks noGrp="1"/>
          </p:cNvSpPr>
          <p:nvPr/>
        </p:nvSpPr>
        <p:spPr>
          <a:xfrm>
            <a:off x="457200" y="5781675"/>
            <a:ext cx="11125200" cy="457200"/>
          </a:xfrm>
          <a:prstGeom prst="rect">
            <a:avLst/>
          </a:prstGeom>
          <a:solidFill>
            <a:srgbClr val="E9F3EF"/>
          </a:solidFill>
          <a:ln w="0">
            <a:noFill/>
            <a:prstDash val="solid"/>
          </a:ln>
        </p:spPr>
      </p:sp>
      <p:sp>
        <p:nvSpPr>
          <p:cNvPr id="22" name="proof-band-copy">
            <a:extLst>
              <a:ext uri="{FF2B5EF4-FFF2-40B4-BE49-F238E27FC236}">
                <a16:creationId xmlns:a16="http://schemas.microsoft.com/office/drawing/2014/main" id="{6877F660-6617-4439-9E72-AA9929BAC67B}"/>
              </a:ext>
            </a:extLst>
          </p:cNvPr>
          <p:cNvSpPr>
            <a:spLocks noGrp="1"/>
          </p:cNvSpPr>
          <p:nvPr/>
        </p:nvSpPr>
        <p:spPr>
          <a:xfrm>
            <a:off x="647700" y="5905500"/>
            <a:ext cx="10744200" cy="219075"/>
          </a:xfrm>
          <a:prstGeom prst="rect">
            <a:avLst/>
          </a:prstGeom>
          <a:noFill/>
          <a:ln w="0">
            <a:noFill/>
            <a:prstDash val="solid"/>
          </a:ln>
        </p:spPr>
        <p:txBody>
          <a:bodyPr wrap="square" lIns="0" tIns="0" rIns="0" bIns="0" anchor="t">
            <a:noAutofit/>
          </a:bodyPr>
          <a:lstStyle/>
          <a:p>
            <a:pPr algn="ctr">
              <a:lnSpc>
                <a:spcPct val="100000"/>
              </a:lnSpc>
              <a:buNone/>
              <a:defRPr sz="1350" b="1">
                <a:solidFill>
                  <a:srgbClr val="07523D"/>
                </a:solidFill>
                <a:latin typeface="Helvetica Neue"/>
                <a:ea typeface="Helvetica Neue"/>
                <a:cs typeface="Helvetica Neue"/>
              </a:defRPr>
            </a:pPr>
            <a:r>
              <a:rPr sz="1350" b="1">
                <a:solidFill>
                  <a:srgbClr val="07523D"/>
                </a:solidFill>
                <a:latin typeface="Helvetica Neue"/>
                <a:ea typeface="Helvetica Neue"/>
                <a:cs typeface="Helvetica Neue"/>
              </a:rPr>
              <a:t>Release gates passed locally: lint • typecheck • tests • production build • responsive runtime smoke</a:t>
            </a:r>
          </a:p>
        </p:txBody>
      </p:sp>
    </p:spTree>
    <p:extLst>
      <p:ext uri="{BB962C8B-B14F-4D97-AF65-F5344CB8AC3E}">
        <p14:creationId xmlns:p14="http://schemas.microsoft.com/office/powerpoint/2010/main" val="65846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410"/>
        </a:solidFill>
        <a:effectLst/>
      </p:bgPr>
    </p:bg>
    <p:spTree>
      <p:nvGrpSpPr>
        <p:cNvPr id="1" name=""/>
        <p:cNvGrpSpPr/>
        <p:nvPr/>
      </p:nvGrpSpPr>
      <p:grpSpPr>
        <a:xfrm>
          <a:off x="0" y="0"/>
          <a:ext cx="0" cy="0"/>
          <a:chOff x="0" y="0"/>
          <a:chExt cx="0" cy="0"/>
        </a:xfrm>
      </p:grpSpPr>
      <p:sp>
        <p:nvSpPr>
          <p:cNvPr id="24" name="eyebrow-8">
            <a:extLst>
              <a:ext uri="{FF2B5EF4-FFF2-40B4-BE49-F238E27FC236}">
                <a16:creationId xmlns:a16="http://schemas.microsoft.com/office/drawing/2014/main" id="{EA130E96-A72B-4500-87A3-1899A924BA45}"/>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72C5A8"/>
                </a:solidFill>
                <a:latin typeface="Helvetica Neue"/>
                <a:ea typeface="Helvetica Neue"/>
                <a:cs typeface="Helvetica Neue"/>
              </a:defRPr>
            </a:pPr>
            <a:r>
              <a:rPr sz="1050" b="1">
                <a:solidFill>
                  <a:srgbClr val="72C5A8"/>
                </a:solidFill>
                <a:latin typeface="Helvetica Neue"/>
                <a:ea typeface="Helvetica Neue"/>
                <a:cs typeface="Helvetica Neue"/>
              </a:rPr>
              <a:t>THRIVEAI  /  MYANMAR SME DECISION COPILOT</a:t>
            </a:r>
          </a:p>
        </p:txBody>
      </p:sp>
      <p:sp>
        <p:nvSpPr>
          <p:cNvPr id="2" name="title-8">
            <a:extLst>
              <a:ext uri="{FF2B5EF4-FFF2-40B4-BE49-F238E27FC236}">
                <a16:creationId xmlns:a16="http://schemas.microsoft.com/office/drawing/2014/main" id="{68B1D80C-8193-4755-A7A0-404674628CC7}"/>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Prototype boundaries are explicit, not buried.</a:t>
            </a:r>
          </a:p>
        </p:txBody>
      </p:sp>
      <p:sp>
        <p:nvSpPr>
          <p:cNvPr id="3" name="header-rule-8">
            <a:extLst>
              <a:ext uri="{FF2B5EF4-FFF2-40B4-BE49-F238E27FC236}">
                <a16:creationId xmlns:a16="http://schemas.microsoft.com/office/drawing/2014/main" id="{65230139-0464-427E-BEBC-9D19475F1647}"/>
              </a:ext>
            </a:extLst>
          </p:cNvPr>
          <p:cNvSpPr>
            <a:spLocks noGrp="1"/>
          </p:cNvSpPr>
          <p:nvPr/>
        </p:nvSpPr>
        <p:spPr>
          <a:xfrm>
            <a:off x="457200" y="1428750"/>
            <a:ext cx="11125200" cy="0"/>
          </a:xfrm>
          <a:prstGeom prst="line">
            <a:avLst/>
          </a:prstGeom>
          <a:noFill/>
          <a:ln w="9525">
            <a:solidFill>
              <a:srgbClr val="355047"/>
            </a:solidFill>
            <a:prstDash val="solid"/>
          </a:ln>
        </p:spPr>
      </p:sp>
      <p:sp>
        <p:nvSpPr>
          <p:cNvPr id="4" name="page-8">
            <a:extLst>
              <a:ext uri="{FF2B5EF4-FFF2-40B4-BE49-F238E27FC236}">
                <a16:creationId xmlns:a16="http://schemas.microsoft.com/office/drawing/2014/main" id="{670FFBE2-8FF2-4B61-B571-9A4C656A96EB}"/>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B7C3BC"/>
                </a:solidFill>
                <a:latin typeface="Helvetica Neue"/>
                <a:ea typeface="Helvetica Neue"/>
                <a:cs typeface="Helvetica Neue"/>
              </a:defRPr>
            </a:pPr>
            <a:r>
              <a:rPr sz="900" b="1">
                <a:solidFill>
                  <a:srgbClr val="B7C3BC"/>
                </a:solidFill>
                <a:latin typeface="Helvetica Neue"/>
                <a:ea typeface="Helvetica Neue"/>
                <a:cs typeface="Helvetica Neue"/>
              </a:rPr>
              <a:t>08</a:t>
            </a:r>
          </a:p>
        </p:txBody>
      </p:sp>
      <p:sp>
        <p:nvSpPr>
          <p:cNvPr id="5" name="boundary-lead">
            <a:extLst>
              <a:ext uri="{FF2B5EF4-FFF2-40B4-BE49-F238E27FC236}">
                <a16:creationId xmlns:a16="http://schemas.microsoft.com/office/drawing/2014/main" id="{B350D02F-3F7A-480D-BAC3-5AB239B75BFB}"/>
              </a:ext>
            </a:extLst>
          </p:cNvPr>
          <p:cNvSpPr>
            <a:spLocks noGrp="1"/>
          </p:cNvSpPr>
          <p:nvPr/>
        </p:nvSpPr>
        <p:spPr>
          <a:xfrm>
            <a:off x="457200" y="1657350"/>
            <a:ext cx="9429750" cy="457200"/>
          </a:xfrm>
          <a:prstGeom prst="rect">
            <a:avLst/>
          </a:prstGeom>
          <a:noFill/>
          <a:ln w="0">
            <a:noFill/>
            <a:prstDash val="solid"/>
          </a:ln>
        </p:spPr>
        <p:txBody>
          <a:bodyPr wrap="square" lIns="0" tIns="0" rIns="0" bIns="0" anchor="t">
            <a:noAutofit/>
          </a:bodyPr>
          <a:lstStyle/>
          <a:p>
            <a:pPr algn="l">
              <a:lnSpc>
                <a:spcPct val="100000"/>
              </a:lnSpc>
              <a:buNone/>
              <a:defRPr sz="1800" b="0">
                <a:solidFill>
                  <a:srgbClr val="D4DDD8"/>
                </a:solidFill>
                <a:latin typeface="Helvetica Neue"/>
                <a:ea typeface="Helvetica Neue"/>
                <a:cs typeface="Helvetica Neue"/>
              </a:defRPr>
            </a:pPr>
            <a:r>
              <a:rPr sz="1800" b="0">
                <a:solidFill>
                  <a:srgbClr val="D4DDD8"/>
                </a:solidFill>
                <a:latin typeface="Helvetica Neue"/>
                <a:ea typeface="Helvetica Neue"/>
                <a:cs typeface="Helvetica Neue"/>
              </a:rPr>
              <a:t>A credible pilot starts by naming what the demo does not yet prove.</a:t>
            </a:r>
          </a:p>
        </p:txBody>
      </p:sp>
      <p:sp>
        <p:nvSpPr>
          <p:cNvPr id="6" name="boundary-label-0">
            <a:extLst>
              <a:ext uri="{FF2B5EF4-FFF2-40B4-BE49-F238E27FC236}">
                <a16:creationId xmlns:a16="http://schemas.microsoft.com/office/drawing/2014/main" id="{B3BD4B01-1A9A-43B0-9C5A-37E47A09FD2F}"/>
              </a:ext>
            </a:extLst>
          </p:cNvPr>
          <p:cNvSpPr>
            <a:spLocks noGrp="1"/>
          </p:cNvSpPr>
          <p:nvPr/>
        </p:nvSpPr>
        <p:spPr>
          <a:xfrm>
            <a:off x="457200" y="2543175"/>
            <a:ext cx="495300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72C5A8"/>
                </a:solidFill>
                <a:latin typeface="Helvetica Neue"/>
                <a:ea typeface="Helvetica Neue"/>
                <a:cs typeface="Helvetica Neue"/>
              </a:defRPr>
            </a:pPr>
            <a:r>
              <a:rPr sz="975" b="1">
                <a:solidFill>
                  <a:srgbClr val="72C5A8"/>
                </a:solidFill>
                <a:latin typeface="Helvetica Neue"/>
                <a:ea typeface="Helvetica Neue"/>
                <a:cs typeface="Helvetica Neue"/>
              </a:rPr>
              <a:t>ROLE</a:t>
            </a:r>
          </a:p>
        </p:txBody>
      </p:sp>
      <p:sp>
        <p:nvSpPr>
          <p:cNvPr id="7" name="boundary-title-0">
            <a:extLst>
              <a:ext uri="{FF2B5EF4-FFF2-40B4-BE49-F238E27FC236}">
                <a16:creationId xmlns:a16="http://schemas.microsoft.com/office/drawing/2014/main" id="{B1F00123-D623-4503-B409-9E719B319B2B}"/>
              </a:ext>
            </a:extLst>
          </p:cNvPr>
          <p:cNvSpPr>
            <a:spLocks noGrp="1"/>
          </p:cNvSpPr>
          <p:nvPr/>
        </p:nvSpPr>
        <p:spPr>
          <a:xfrm>
            <a:off x="457200" y="2867025"/>
            <a:ext cx="4953000" cy="342900"/>
          </a:xfrm>
          <a:prstGeom prst="rect">
            <a:avLst/>
          </a:prstGeom>
          <a:noFill/>
          <a:ln w="0">
            <a:noFill/>
            <a:prstDash val="solid"/>
          </a:ln>
        </p:spPr>
        <p:txBody>
          <a:bodyPr wrap="square" lIns="0" tIns="0" rIns="0" bIns="0" anchor="t">
            <a:noAutofit/>
          </a:bodyPr>
          <a:lstStyle/>
          <a:p>
            <a:pPr algn="l">
              <a:lnSpc>
                <a:spcPct val="100000"/>
              </a:lnSpc>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Decision preparation—not underwriting</a:t>
            </a:r>
          </a:p>
        </p:txBody>
      </p:sp>
      <p:sp>
        <p:nvSpPr>
          <p:cNvPr id="8" name="boundary-body-0">
            <a:extLst>
              <a:ext uri="{FF2B5EF4-FFF2-40B4-BE49-F238E27FC236}">
                <a16:creationId xmlns:a16="http://schemas.microsoft.com/office/drawing/2014/main" id="{CC7F604B-6EC8-4B68-809F-E439D970115A}"/>
              </a:ext>
            </a:extLst>
          </p:cNvPr>
          <p:cNvSpPr>
            <a:spLocks noGrp="1"/>
          </p:cNvSpPr>
          <p:nvPr/>
        </p:nvSpPr>
        <p:spPr>
          <a:xfrm>
            <a:off x="457200" y="3305175"/>
            <a:ext cx="4953000" cy="476250"/>
          </a:xfrm>
          <a:prstGeom prst="rect">
            <a:avLst/>
          </a:prstGeom>
          <a:noFill/>
          <a:ln w="0">
            <a:noFill/>
            <a:prstDash val="solid"/>
          </a:ln>
        </p:spPr>
        <p:txBody>
          <a:bodyPr wrap="square" lIns="0" tIns="0" rIns="0" bIns="0" anchor="t">
            <a:noAutofit/>
          </a:bodyPr>
          <a:lstStyle/>
          <a:p>
            <a:pPr algn="l">
              <a:lnSpc>
                <a:spcPct val="100000"/>
              </a:lnSpc>
              <a:buNone/>
              <a:defRPr sz="1275" b="0">
                <a:solidFill>
                  <a:srgbClr val="B7C3BC"/>
                </a:solidFill>
                <a:latin typeface="Helvetica Neue"/>
                <a:ea typeface="Helvetica Neue"/>
                <a:cs typeface="Helvetica Neue"/>
              </a:defRPr>
            </a:pPr>
            <a:r>
              <a:rPr sz="1275" b="0">
                <a:solidFill>
                  <a:srgbClr val="B7C3BC"/>
                </a:solidFill>
                <a:latin typeface="Helvetica Neue"/>
                <a:ea typeface="Helvetica Neue"/>
                <a:cs typeface="Helvetica Neue"/>
              </a:rPr>
              <a:t>No credit, eligibility, pricing or approval decision is made.</a:t>
            </a:r>
          </a:p>
        </p:txBody>
      </p:sp>
      <p:sp>
        <p:nvSpPr>
          <p:cNvPr id="9" name="boundary-v-1">
            <a:extLst>
              <a:ext uri="{FF2B5EF4-FFF2-40B4-BE49-F238E27FC236}">
                <a16:creationId xmlns:a16="http://schemas.microsoft.com/office/drawing/2014/main" id="{7AD7592C-D152-493E-B079-DB6B5B21F323}"/>
              </a:ext>
            </a:extLst>
          </p:cNvPr>
          <p:cNvSpPr>
            <a:spLocks noGrp="1"/>
          </p:cNvSpPr>
          <p:nvPr/>
        </p:nvSpPr>
        <p:spPr>
          <a:xfrm>
            <a:off x="5791200" y="2543175"/>
            <a:ext cx="0" cy="1200150"/>
          </a:xfrm>
          <a:prstGeom prst="line">
            <a:avLst/>
          </a:prstGeom>
          <a:noFill/>
          <a:ln w="9525">
            <a:solidFill>
              <a:srgbClr val="355047"/>
            </a:solidFill>
            <a:prstDash val="solid"/>
          </a:ln>
        </p:spPr>
      </p:sp>
      <p:sp>
        <p:nvSpPr>
          <p:cNvPr id="10" name="boundary-label-1">
            <a:extLst>
              <a:ext uri="{FF2B5EF4-FFF2-40B4-BE49-F238E27FC236}">
                <a16:creationId xmlns:a16="http://schemas.microsoft.com/office/drawing/2014/main" id="{78C69256-654C-46B8-ADA0-7050094F4377}"/>
              </a:ext>
            </a:extLst>
          </p:cNvPr>
          <p:cNvSpPr>
            <a:spLocks noGrp="1"/>
          </p:cNvSpPr>
          <p:nvPr/>
        </p:nvSpPr>
        <p:spPr>
          <a:xfrm>
            <a:off x="6019800" y="2543175"/>
            <a:ext cx="495300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72C5A8"/>
                </a:solidFill>
                <a:latin typeface="Helvetica Neue"/>
                <a:ea typeface="Helvetica Neue"/>
                <a:cs typeface="Helvetica Neue"/>
              </a:defRPr>
            </a:pPr>
            <a:r>
              <a:rPr sz="975" b="1">
                <a:solidFill>
                  <a:srgbClr val="72C5A8"/>
                </a:solidFill>
                <a:latin typeface="Helvetica Neue"/>
                <a:ea typeface="Helvetica Neue"/>
                <a:cs typeface="Helvetica Neue"/>
              </a:rPr>
              <a:t>DATA</a:t>
            </a:r>
          </a:p>
        </p:txBody>
      </p:sp>
      <p:sp>
        <p:nvSpPr>
          <p:cNvPr id="11" name="boundary-title-1">
            <a:extLst>
              <a:ext uri="{FF2B5EF4-FFF2-40B4-BE49-F238E27FC236}">
                <a16:creationId xmlns:a16="http://schemas.microsoft.com/office/drawing/2014/main" id="{07FCF031-1CE9-4621-9C42-28DD5F6E2F6A}"/>
              </a:ext>
            </a:extLst>
          </p:cNvPr>
          <p:cNvSpPr>
            <a:spLocks noGrp="1"/>
          </p:cNvSpPr>
          <p:nvPr/>
        </p:nvSpPr>
        <p:spPr>
          <a:xfrm>
            <a:off x="6019800" y="2867025"/>
            <a:ext cx="4953000" cy="342900"/>
          </a:xfrm>
          <a:prstGeom prst="rect">
            <a:avLst/>
          </a:prstGeom>
          <a:noFill/>
          <a:ln w="0">
            <a:noFill/>
            <a:prstDash val="solid"/>
          </a:ln>
        </p:spPr>
        <p:txBody>
          <a:bodyPr wrap="square" lIns="0" tIns="0" rIns="0" bIns="0" anchor="t">
            <a:noAutofit/>
          </a:bodyPr>
          <a:lstStyle/>
          <a:p>
            <a:pPr algn="l">
              <a:lnSpc>
                <a:spcPct val="100000"/>
              </a:lnSpc>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Synthetic evidence only</a:t>
            </a:r>
          </a:p>
        </p:txBody>
      </p:sp>
      <p:sp>
        <p:nvSpPr>
          <p:cNvPr id="12" name="boundary-body-1">
            <a:extLst>
              <a:ext uri="{FF2B5EF4-FFF2-40B4-BE49-F238E27FC236}">
                <a16:creationId xmlns:a16="http://schemas.microsoft.com/office/drawing/2014/main" id="{17943F3D-428C-4EE1-A37B-6F3A22B0B3EE}"/>
              </a:ext>
            </a:extLst>
          </p:cNvPr>
          <p:cNvSpPr>
            <a:spLocks noGrp="1"/>
          </p:cNvSpPr>
          <p:nvPr/>
        </p:nvSpPr>
        <p:spPr>
          <a:xfrm>
            <a:off x="6019800" y="3305175"/>
            <a:ext cx="4953000" cy="476250"/>
          </a:xfrm>
          <a:prstGeom prst="rect">
            <a:avLst/>
          </a:prstGeom>
          <a:noFill/>
          <a:ln w="0">
            <a:noFill/>
            <a:prstDash val="solid"/>
          </a:ln>
        </p:spPr>
        <p:txBody>
          <a:bodyPr wrap="square" lIns="0" tIns="0" rIns="0" bIns="0" anchor="t">
            <a:noAutofit/>
          </a:bodyPr>
          <a:lstStyle/>
          <a:p>
            <a:pPr algn="l">
              <a:lnSpc>
                <a:spcPct val="100000"/>
              </a:lnSpc>
              <a:buNone/>
              <a:defRPr sz="1275" b="0">
                <a:solidFill>
                  <a:srgbClr val="B7C3BC"/>
                </a:solidFill>
                <a:latin typeface="Helvetica Neue"/>
                <a:ea typeface="Helvetica Neue"/>
                <a:cs typeface="Helvetica Neue"/>
              </a:defRPr>
            </a:pPr>
            <a:r>
              <a:rPr sz="1275" b="0">
                <a:solidFill>
                  <a:srgbClr val="B7C3BC"/>
                </a:solidFill>
                <a:latin typeface="Helvetica Neue"/>
                <a:ea typeface="Helvetica Neue"/>
                <a:cs typeface="Helvetica Neue"/>
              </a:rPr>
              <a:t>No real SME, customer, transaction or UAB system data is used.</a:t>
            </a:r>
          </a:p>
        </p:txBody>
      </p:sp>
      <p:sp>
        <p:nvSpPr>
          <p:cNvPr id="13" name="boundary-h-2">
            <a:extLst>
              <a:ext uri="{FF2B5EF4-FFF2-40B4-BE49-F238E27FC236}">
                <a16:creationId xmlns:a16="http://schemas.microsoft.com/office/drawing/2014/main" id="{356E83B5-4077-4B11-9728-A9BFD48EDA31}"/>
              </a:ext>
            </a:extLst>
          </p:cNvPr>
          <p:cNvSpPr>
            <a:spLocks noGrp="1"/>
          </p:cNvSpPr>
          <p:nvPr/>
        </p:nvSpPr>
        <p:spPr>
          <a:xfrm>
            <a:off x="457200" y="4038600"/>
            <a:ext cx="5105400" cy="0"/>
          </a:xfrm>
          <a:prstGeom prst="line">
            <a:avLst/>
          </a:prstGeom>
          <a:noFill/>
          <a:ln w="9525">
            <a:solidFill>
              <a:srgbClr val="355047"/>
            </a:solidFill>
            <a:prstDash val="solid"/>
          </a:ln>
        </p:spPr>
      </p:sp>
      <p:sp>
        <p:nvSpPr>
          <p:cNvPr id="14" name="boundary-label-2">
            <a:extLst>
              <a:ext uri="{FF2B5EF4-FFF2-40B4-BE49-F238E27FC236}">
                <a16:creationId xmlns:a16="http://schemas.microsoft.com/office/drawing/2014/main" id="{4A529BE3-9F8A-4672-BAE0-66A839E690A5}"/>
              </a:ext>
            </a:extLst>
          </p:cNvPr>
          <p:cNvSpPr>
            <a:spLocks noGrp="1"/>
          </p:cNvSpPr>
          <p:nvPr/>
        </p:nvSpPr>
        <p:spPr>
          <a:xfrm>
            <a:off x="457200" y="4171950"/>
            <a:ext cx="495300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72C5A8"/>
                </a:solidFill>
                <a:latin typeface="Helvetica Neue"/>
                <a:ea typeface="Helvetica Neue"/>
                <a:cs typeface="Helvetica Neue"/>
              </a:defRPr>
            </a:pPr>
            <a:r>
              <a:rPr sz="975" b="1">
                <a:solidFill>
                  <a:srgbClr val="72C5A8"/>
                </a:solidFill>
                <a:latin typeface="Helvetica Neue"/>
                <a:ea typeface="Helvetica Neue"/>
                <a:cs typeface="Helvetica Neue"/>
              </a:rPr>
              <a:t>DEMO STATUS</a:t>
            </a:r>
          </a:p>
        </p:txBody>
      </p:sp>
      <p:sp>
        <p:nvSpPr>
          <p:cNvPr id="15" name="boundary-title-2">
            <a:extLst>
              <a:ext uri="{FF2B5EF4-FFF2-40B4-BE49-F238E27FC236}">
                <a16:creationId xmlns:a16="http://schemas.microsoft.com/office/drawing/2014/main" id="{AFD0969D-E6E8-4CD1-BDFF-33967F918B8A}"/>
              </a:ext>
            </a:extLst>
          </p:cNvPr>
          <p:cNvSpPr>
            <a:spLocks noGrp="1"/>
          </p:cNvSpPr>
          <p:nvPr/>
        </p:nvSpPr>
        <p:spPr>
          <a:xfrm>
            <a:off x="457200" y="4495800"/>
            <a:ext cx="4953000" cy="342900"/>
          </a:xfrm>
          <a:prstGeom prst="rect">
            <a:avLst/>
          </a:prstGeom>
          <a:noFill/>
          <a:ln w="0">
            <a:noFill/>
            <a:prstDash val="solid"/>
          </a:ln>
        </p:spPr>
        <p:txBody>
          <a:bodyPr wrap="square" lIns="0" tIns="0" rIns="0" bIns="0" anchor="t">
            <a:noAutofit/>
          </a:bodyPr>
          <a:lstStyle/>
          <a:p>
            <a:pPr algn="l">
              <a:lnSpc>
                <a:spcPct val="100000"/>
              </a:lnSpc>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Live AI is falling back</a:t>
            </a:r>
          </a:p>
        </p:txBody>
      </p:sp>
      <p:sp>
        <p:nvSpPr>
          <p:cNvPr id="16" name="boundary-body-2">
            <a:extLst>
              <a:ext uri="{FF2B5EF4-FFF2-40B4-BE49-F238E27FC236}">
                <a16:creationId xmlns:a16="http://schemas.microsoft.com/office/drawing/2014/main" id="{4879848D-588C-4DE1-B075-2BAFE508EB6A}"/>
              </a:ext>
            </a:extLst>
          </p:cNvPr>
          <p:cNvSpPr>
            <a:spLocks noGrp="1"/>
          </p:cNvSpPr>
          <p:nvPr/>
        </p:nvSpPr>
        <p:spPr>
          <a:xfrm>
            <a:off x="457200" y="4933950"/>
            <a:ext cx="4953000" cy="476250"/>
          </a:xfrm>
          <a:prstGeom prst="rect">
            <a:avLst/>
          </a:prstGeom>
          <a:noFill/>
          <a:ln w="0">
            <a:noFill/>
            <a:prstDash val="solid"/>
          </a:ln>
        </p:spPr>
        <p:txBody>
          <a:bodyPr wrap="square" lIns="0" tIns="0" rIns="0" bIns="0" anchor="t">
            <a:noAutofit/>
          </a:bodyPr>
          <a:lstStyle/>
          <a:p>
            <a:pPr algn="l">
              <a:lnSpc>
                <a:spcPct val="100000"/>
              </a:lnSpc>
              <a:buNone/>
              <a:defRPr sz="1275" b="0">
                <a:solidFill>
                  <a:srgbClr val="B7C3BC"/>
                </a:solidFill>
                <a:latin typeface="Helvetica Neue"/>
                <a:ea typeface="Helvetica Neue"/>
                <a:cs typeface="Helvetica Neue"/>
              </a:defRPr>
            </a:pPr>
            <a:r>
              <a:rPr sz="1275" b="0">
                <a:solidFill>
                  <a:srgbClr val="B7C3BC"/>
                </a:solidFill>
                <a:latin typeface="Helvetica Neue"/>
                <a:ea typeface="Helvetica Neue"/>
                <a:cs typeface="Helvetica Neue"/>
              </a:rPr>
              <a:t>The deployed route currently returns a labeled deterministic fallback.</a:t>
            </a:r>
          </a:p>
        </p:txBody>
      </p:sp>
      <p:sp>
        <p:nvSpPr>
          <p:cNvPr id="17" name="boundary-v-3">
            <a:extLst>
              <a:ext uri="{FF2B5EF4-FFF2-40B4-BE49-F238E27FC236}">
                <a16:creationId xmlns:a16="http://schemas.microsoft.com/office/drawing/2014/main" id="{5C3205B2-7FBD-4F97-AAB5-55D6B4BCA95C}"/>
              </a:ext>
            </a:extLst>
          </p:cNvPr>
          <p:cNvSpPr>
            <a:spLocks noGrp="1"/>
          </p:cNvSpPr>
          <p:nvPr/>
        </p:nvSpPr>
        <p:spPr>
          <a:xfrm>
            <a:off x="5791200" y="4171950"/>
            <a:ext cx="0" cy="1200150"/>
          </a:xfrm>
          <a:prstGeom prst="line">
            <a:avLst/>
          </a:prstGeom>
          <a:noFill/>
          <a:ln w="9525">
            <a:solidFill>
              <a:srgbClr val="355047"/>
            </a:solidFill>
            <a:prstDash val="solid"/>
          </a:ln>
        </p:spPr>
      </p:sp>
      <p:sp>
        <p:nvSpPr>
          <p:cNvPr id="18" name="boundary-h-3">
            <a:extLst>
              <a:ext uri="{FF2B5EF4-FFF2-40B4-BE49-F238E27FC236}">
                <a16:creationId xmlns:a16="http://schemas.microsoft.com/office/drawing/2014/main" id="{E5C3E9A2-9733-49CE-82D5-6EFB2987EEAE}"/>
              </a:ext>
            </a:extLst>
          </p:cNvPr>
          <p:cNvSpPr>
            <a:spLocks noGrp="1"/>
          </p:cNvSpPr>
          <p:nvPr/>
        </p:nvSpPr>
        <p:spPr>
          <a:xfrm>
            <a:off x="6019800" y="4038600"/>
            <a:ext cx="5105400" cy="0"/>
          </a:xfrm>
          <a:prstGeom prst="line">
            <a:avLst/>
          </a:prstGeom>
          <a:noFill/>
          <a:ln w="9525">
            <a:solidFill>
              <a:srgbClr val="355047"/>
            </a:solidFill>
            <a:prstDash val="solid"/>
          </a:ln>
        </p:spPr>
      </p:sp>
      <p:sp>
        <p:nvSpPr>
          <p:cNvPr id="19" name="boundary-label-3">
            <a:extLst>
              <a:ext uri="{FF2B5EF4-FFF2-40B4-BE49-F238E27FC236}">
                <a16:creationId xmlns:a16="http://schemas.microsoft.com/office/drawing/2014/main" id="{2414B076-F0BC-4057-B0CD-3506105C5790}"/>
              </a:ext>
            </a:extLst>
          </p:cNvPr>
          <p:cNvSpPr>
            <a:spLocks noGrp="1"/>
          </p:cNvSpPr>
          <p:nvPr/>
        </p:nvSpPr>
        <p:spPr>
          <a:xfrm>
            <a:off x="6019800" y="4171950"/>
            <a:ext cx="495300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72C5A8"/>
                </a:solidFill>
                <a:latin typeface="Helvetica Neue"/>
                <a:ea typeface="Helvetica Neue"/>
                <a:cs typeface="Helvetica Neue"/>
              </a:defRPr>
            </a:pPr>
            <a:r>
              <a:rPr sz="975" b="1">
                <a:solidFill>
                  <a:srgbClr val="72C5A8"/>
                </a:solidFill>
                <a:latin typeface="Helvetica Neue"/>
                <a:ea typeface="Helvetica Neue"/>
                <a:cs typeface="Helvetica Neue"/>
              </a:rPr>
              <a:t>METHOD GAP</a:t>
            </a:r>
          </a:p>
        </p:txBody>
      </p:sp>
      <p:sp>
        <p:nvSpPr>
          <p:cNvPr id="20" name="boundary-title-3">
            <a:extLst>
              <a:ext uri="{FF2B5EF4-FFF2-40B4-BE49-F238E27FC236}">
                <a16:creationId xmlns:a16="http://schemas.microsoft.com/office/drawing/2014/main" id="{C8E146BF-41D7-4A17-B3D3-4C6875112D7A}"/>
              </a:ext>
            </a:extLst>
          </p:cNvPr>
          <p:cNvSpPr>
            <a:spLocks noGrp="1"/>
          </p:cNvSpPr>
          <p:nvPr/>
        </p:nvSpPr>
        <p:spPr>
          <a:xfrm>
            <a:off x="6019800" y="4495800"/>
            <a:ext cx="4953000" cy="342900"/>
          </a:xfrm>
          <a:prstGeom prst="rect">
            <a:avLst/>
          </a:prstGeom>
          <a:noFill/>
          <a:ln w="0">
            <a:noFill/>
            <a:prstDash val="solid"/>
          </a:ln>
        </p:spPr>
        <p:txBody>
          <a:bodyPr wrap="square" lIns="0" tIns="0" rIns="0" bIns="0" anchor="t">
            <a:noAutofit/>
          </a:bodyPr>
          <a:lstStyle/>
          <a:p>
            <a:pPr algn="l">
              <a:lnSpc>
                <a:spcPct val="100000"/>
              </a:lnSpc>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Liquidity logic needs one correction</a:t>
            </a:r>
          </a:p>
        </p:txBody>
      </p:sp>
      <p:sp>
        <p:nvSpPr>
          <p:cNvPr id="21" name="boundary-body-3">
            <a:extLst>
              <a:ext uri="{FF2B5EF4-FFF2-40B4-BE49-F238E27FC236}">
                <a16:creationId xmlns:a16="http://schemas.microsoft.com/office/drawing/2014/main" id="{E1E15972-F4C9-47B6-8B14-C355FD8492E9}"/>
              </a:ext>
            </a:extLst>
          </p:cNvPr>
          <p:cNvSpPr>
            <a:spLocks noGrp="1"/>
          </p:cNvSpPr>
          <p:nvPr/>
        </p:nvSpPr>
        <p:spPr>
          <a:xfrm>
            <a:off x="6019800" y="4933950"/>
            <a:ext cx="4953000" cy="476250"/>
          </a:xfrm>
          <a:prstGeom prst="rect">
            <a:avLst/>
          </a:prstGeom>
          <a:noFill/>
          <a:ln w="0">
            <a:noFill/>
            <a:prstDash val="solid"/>
          </a:ln>
        </p:spPr>
        <p:txBody>
          <a:bodyPr wrap="square" lIns="0" tIns="0" rIns="0" bIns="0" anchor="t">
            <a:noAutofit/>
          </a:bodyPr>
          <a:lstStyle/>
          <a:p>
            <a:pPr algn="l">
              <a:lnSpc>
                <a:spcPct val="100000"/>
              </a:lnSpc>
              <a:buNone/>
              <a:defRPr sz="1275" b="0">
                <a:solidFill>
                  <a:srgbClr val="B7C3BC"/>
                </a:solidFill>
                <a:latin typeface="Helvetica Neue"/>
                <a:ea typeface="Helvetica Neue"/>
                <a:cs typeface="Helvetica Neue"/>
              </a:defRPr>
            </a:pPr>
            <a:r>
              <a:rPr sz="1275" b="0">
                <a:solidFill>
                  <a:srgbClr val="B7C3BC"/>
                </a:solidFill>
                <a:latin typeface="Helvetica Neue"/>
                <a:ea typeface="Helvetica Neue"/>
                <a:cs typeface="Helvetica Neue"/>
              </a:rPr>
              <a:t>Scheduled payables must be included before the Cash Bridge supports a readiness claim.</a:t>
            </a:r>
          </a:p>
        </p:txBody>
      </p:sp>
      <p:sp>
        <p:nvSpPr>
          <p:cNvPr id="22" name="boundary-callout">
            <a:extLst>
              <a:ext uri="{FF2B5EF4-FFF2-40B4-BE49-F238E27FC236}">
                <a16:creationId xmlns:a16="http://schemas.microsoft.com/office/drawing/2014/main" id="{2BEB3F16-E655-40F1-A896-97A8DFEC5DF8}"/>
              </a:ext>
            </a:extLst>
          </p:cNvPr>
          <p:cNvSpPr>
            <a:spLocks noGrp="1"/>
          </p:cNvSpPr>
          <p:nvPr/>
        </p:nvSpPr>
        <p:spPr>
          <a:xfrm>
            <a:off x="457200" y="5791200"/>
            <a:ext cx="11125200" cy="476250"/>
          </a:xfrm>
          <a:prstGeom prst="rect">
            <a:avLst/>
          </a:prstGeom>
          <a:solidFill>
            <a:srgbClr val="07523D"/>
          </a:solidFill>
          <a:ln w="0">
            <a:noFill/>
            <a:prstDash val="solid"/>
          </a:ln>
        </p:spPr>
      </p:sp>
      <p:sp>
        <p:nvSpPr>
          <p:cNvPr id="23" name="boundary-callout-copy">
            <a:extLst>
              <a:ext uri="{FF2B5EF4-FFF2-40B4-BE49-F238E27FC236}">
                <a16:creationId xmlns:a16="http://schemas.microsoft.com/office/drawing/2014/main" id="{7D0FFDA5-694D-4420-9D92-03246C8FF182}"/>
              </a:ext>
            </a:extLst>
          </p:cNvPr>
          <p:cNvSpPr>
            <a:spLocks noGrp="1"/>
          </p:cNvSpPr>
          <p:nvPr/>
        </p:nvSpPr>
        <p:spPr>
          <a:xfrm>
            <a:off x="666750" y="5915025"/>
            <a:ext cx="10706100" cy="247650"/>
          </a:xfrm>
          <a:prstGeom prst="rect">
            <a:avLst/>
          </a:prstGeom>
          <a:noFill/>
          <a:ln w="0">
            <a:noFill/>
            <a:prstDash val="solid"/>
          </a:ln>
        </p:spPr>
        <p:txBody>
          <a:bodyPr wrap="square" lIns="0" tIns="0" rIns="0" bIns="0" anchor="t">
            <a:noAutofit/>
          </a:bodyPr>
          <a:lstStyle/>
          <a:p>
            <a:pPr algn="ctr">
              <a:lnSpc>
                <a:spcPct val="100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Trust is the product: fix the method, harden the endpoint, then test with consented data.</a:t>
            </a:r>
          </a:p>
        </p:txBody>
      </p:sp>
    </p:spTree>
    <p:extLst>
      <p:ext uri="{BB962C8B-B14F-4D97-AF65-F5344CB8AC3E}">
        <p14:creationId xmlns:p14="http://schemas.microsoft.com/office/powerpoint/2010/main" val="1719683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eyebrow-9">
            <a:extLst>
              <a:ext uri="{FF2B5EF4-FFF2-40B4-BE49-F238E27FC236}">
                <a16:creationId xmlns:a16="http://schemas.microsoft.com/office/drawing/2014/main" id="{E861216D-8615-404D-87F8-C80B83F8B833}"/>
              </a:ext>
            </a:extLst>
          </p:cNvPr>
          <p:cNvSpPr>
            <a:spLocks noGrp="1"/>
          </p:cNvSpPr>
          <p:nvPr/>
        </p:nvSpPr>
        <p:spPr>
          <a:xfrm>
            <a:off x="457200" y="285750"/>
            <a:ext cx="6667500" cy="24765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THRIVEAI  /  MYANMAR SME DECISION COPILOT</a:t>
            </a:r>
          </a:p>
        </p:txBody>
      </p:sp>
      <p:sp>
        <p:nvSpPr>
          <p:cNvPr id="2" name="title-9">
            <a:extLst>
              <a:ext uri="{FF2B5EF4-FFF2-40B4-BE49-F238E27FC236}">
                <a16:creationId xmlns:a16="http://schemas.microsoft.com/office/drawing/2014/main" id="{DDC91FAB-8C0E-4050-AE87-0F13F4BDB85E}"/>
              </a:ext>
            </a:extLst>
          </p:cNvPr>
          <p:cNvSpPr>
            <a:spLocks noGrp="1"/>
          </p:cNvSpPr>
          <p:nvPr/>
        </p:nvSpPr>
        <p:spPr>
          <a:xfrm>
            <a:off x="457200" y="685800"/>
            <a:ext cx="11125200" cy="781050"/>
          </a:xfrm>
          <a:prstGeom prst="rect">
            <a:avLst/>
          </a:prstGeom>
          <a:noFill/>
          <a:ln w="0">
            <a:noFill/>
            <a:prstDash val="solid"/>
          </a:ln>
        </p:spPr>
        <p:txBody>
          <a:bodyPr wrap="square" lIns="0" tIns="0" rIns="0" bIns="0" anchor="t">
            <a:normAutofit/>
          </a:bodyPr>
          <a:lstStyle/>
          <a:p>
            <a:pPr algn="l">
              <a:lnSpc>
                <a:spcPct val="92000"/>
              </a:lnSpc>
              <a:buNone/>
              <a:defRPr sz="3150" b="1">
                <a:solidFill>
                  <a:srgbClr val="17211B"/>
                </a:solidFill>
                <a:latin typeface="Helvetica Neue"/>
                <a:ea typeface="Helvetica Neue"/>
                <a:cs typeface="Helvetica Neue"/>
              </a:defRPr>
            </a:pPr>
            <a:r>
              <a:rPr sz="3150" b="1">
                <a:solidFill>
                  <a:srgbClr val="17211B"/>
                </a:solidFill>
                <a:latin typeface="Helvetica Neue"/>
                <a:ea typeface="Helvetica Neue"/>
                <a:cs typeface="Helvetica Neue"/>
              </a:rPr>
              <a:t>A UAB pilot should earn trust in three gates.</a:t>
            </a:r>
          </a:p>
        </p:txBody>
      </p:sp>
      <p:sp>
        <p:nvSpPr>
          <p:cNvPr id="3" name="header-rule-9">
            <a:extLst>
              <a:ext uri="{FF2B5EF4-FFF2-40B4-BE49-F238E27FC236}">
                <a16:creationId xmlns:a16="http://schemas.microsoft.com/office/drawing/2014/main" id="{0EDC7463-5328-4F00-985E-27CD7316D2BB}"/>
              </a:ext>
            </a:extLst>
          </p:cNvPr>
          <p:cNvSpPr>
            <a:spLocks noGrp="1"/>
          </p:cNvSpPr>
          <p:nvPr/>
        </p:nvSpPr>
        <p:spPr>
          <a:xfrm>
            <a:off x="457200" y="1428750"/>
            <a:ext cx="11125200" cy="0"/>
          </a:xfrm>
          <a:prstGeom prst="line">
            <a:avLst/>
          </a:prstGeom>
          <a:noFill/>
          <a:ln w="9525">
            <a:solidFill>
              <a:srgbClr val="D9DED9"/>
            </a:solidFill>
            <a:prstDash val="solid"/>
          </a:ln>
        </p:spPr>
      </p:sp>
      <p:sp>
        <p:nvSpPr>
          <p:cNvPr id="4" name="page-9">
            <a:extLst>
              <a:ext uri="{FF2B5EF4-FFF2-40B4-BE49-F238E27FC236}">
                <a16:creationId xmlns:a16="http://schemas.microsoft.com/office/drawing/2014/main" id="{8A3E1A25-D884-4687-978E-CA5881C6404E}"/>
              </a:ext>
            </a:extLst>
          </p:cNvPr>
          <p:cNvSpPr>
            <a:spLocks noGrp="1"/>
          </p:cNvSpPr>
          <p:nvPr/>
        </p:nvSpPr>
        <p:spPr>
          <a:xfrm>
            <a:off x="11125200" y="6448425"/>
            <a:ext cx="457200" cy="171450"/>
          </a:xfrm>
          <a:prstGeom prst="rect">
            <a:avLst/>
          </a:prstGeom>
          <a:noFill/>
          <a:ln w="0">
            <a:noFill/>
            <a:prstDash val="solid"/>
          </a:ln>
        </p:spPr>
        <p:txBody>
          <a:bodyPr wrap="square" lIns="0" tIns="0" rIns="0" bIns="0" anchor="b">
            <a:noAutofit/>
          </a:bodyPr>
          <a:lstStyle/>
          <a:p>
            <a:pPr algn="r">
              <a:lnSpc>
                <a:spcPct val="100000"/>
              </a:lnSpc>
              <a:buNone/>
              <a:defRPr sz="900" b="1">
                <a:solidFill>
                  <a:srgbClr val="738078"/>
                </a:solidFill>
                <a:latin typeface="Helvetica Neue"/>
                <a:ea typeface="Helvetica Neue"/>
                <a:cs typeface="Helvetica Neue"/>
              </a:defRPr>
            </a:pPr>
            <a:r>
              <a:rPr sz="900" b="1">
                <a:solidFill>
                  <a:srgbClr val="738078"/>
                </a:solidFill>
                <a:latin typeface="Helvetica Neue"/>
                <a:ea typeface="Helvetica Neue"/>
                <a:cs typeface="Helvetica Neue"/>
              </a:rPr>
              <a:t>09</a:t>
            </a:r>
          </a:p>
        </p:txBody>
      </p:sp>
      <p:sp>
        <p:nvSpPr>
          <p:cNvPr id="5" name="pilot-subtitle">
            <a:extLst>
              <a:ext uri="{FF2B5EF4-FFF2-40B4-BE49-F238E27FC236}">
                <a16:creationId xmlns:a16="http://schemas.microsoft.com/office/drawing/2014/main" id="{54CC46B7-D5BD-408A-915A-C837C5D1AA8D}"/>
              </a:ext>
            </a:extLst>
          </p:cNvPr>
          <p:cNvSpPr>
            <a:spLocks noGrp="1"/>
          </p:cNvSpPr>
          <p:nvPr/>
        </p:nvSpPr>
        <p:spPr>
          <a:xfrm>
            <a:off x="457200" y="1647825"/>
            <a:ext cx="9525000" cy="400050"/>
          </a:xfrm>
          <a:prstGeom prst="rect">
            <a:avLst/>
          </a:prstGeom>
          <a:noFill/>
          <a:ln w="0">
            <a:noFill/>
            <a:prstDash val="solid"/>
          </a:ln>
        </p:spPr>
        <p:txBody>
          <a:bodyPr wrap="square" lIns="0" tIns="0" rIns="0" bIns="0" anchor="t">
            <a:noAutofit/>
          </a:bodyPr>
          <a:lstStyle/>
          <a:p>
            <a:pPr algn="l">
              <a:lnSpc>
                <a:spcPct val="100000"/>
              </a:lnSpc>
              <a:buNone/>
              <a:defRPr sz="1575" b="0">
                <a:solidFill>
                  <a:srgbClr val="59665F"/>
                </a:solidFill>
                <a:latin typeface="Helvetica Neue"/>
                <a:ea typeface="Helvetica Neue"/>
                <a:cs typeface="Helvetica Neue"/>
              </a:defRPr>
            </a:pPr>
            <a:r>
              <a:rPr sz="1575" b="0">
                <a:solidFill>
                  <a:srgbClr val="59665F"/>
                </a:solidFill>
                <a:latin typeface="Helvetica Neue"/>
                <a:ea typeface="Helvetica Neue"/>
                <a:cs typeface="Helvetica Neue"/>
              </a:rPr>
              <a:t>Move only when the evidence, controls and owner experience clear the previous gate.</a:t>
            </a:r>
          </a:p>
        </p:txBody>
      </p:sp>
      <p:sp>
        <p:nvSpPr>
          <p:cNvPr id="6" name="pilot-line">
            <a:extLst>
              <a:ext uri="{FF2B5EF4-FFF2-40B4-BE49-F238E27FC236}">
                <a16:creationId xmlns:a16="http://schemas.microsoft.com/office/drawing/2014/main" id="{32666C97-14AA-413C-91D7-D0F9300057B5}"/>
              </a:ext>
            </a:extLst>
          </p:cNvPr>
          <p:cNvSpPr>
            <a:spLocks noGrp="1"/>
          </p:cNvSpPr>
          <p:nvPr/>
        </p:nvSpPr>
        <p:spPr>
          <a:xfrm>
            <a:off x="781050" y="3267075"/>
            <a:ext cx="9715500" cy="0"/>
          </a:xfrm>
          <a:prstGeom prst="line">
            <a:avLst/>
          </a:prstGeom>
          <a:noFill/>
          <a:ln w="9525">
            <a:solidFill>
              <a:srgbClr val="17211B"/>
            </a:solidFill>
            <a:prstDash val="solid"/>
          </a:ln>
        </p:spPr>
      </p:sp>
      <p:sp>
        <p:nvSpPr>
          <p:cNvPr id="7" name="pilot-dot-0">
            <a:extLst>
              <a:ext uri="{FF2B5EF4-FFF2-40B4-BE49-F238E27FC236}">
                <a16:creationId xmlns:a16="http://schemas.microsoft.com/office/drawing/2014/main" id="{47009557-CE48-4B9E-B749-4E0C53CCE674}"/>
              </a:ext>
            </a:extLst>
          </p:cNvPr>
          <p:cNvSpPr>
            <a:spLocks noGrp="1"/>
          </p:cNvSpPr>
          <p:nvPr/>
        </p:nvSpPr>
        <p:spPr>
          <a:xfrm>
            <a:off x="704850" y="3190875"/>
            <a:ext cx="161925" cy="161925"/>
          </a:xfrm>
          <a:prstGeom prst="ellipse">
            <a:avLst/>
          </a:prstGeom>
          <a:solidFill>
            <a:srgbClr val="0E6B50"/>
          </a:solidFill>
          <a:ln w="0">
            <a:noFill/>
            <a:prstDash val="solid"/>
          </a:ln>
        </p:spPr>
      </p:sp>
      <p:sp>
        <p:nvSpPr>
          <p:cNvPr id="8" name="pilot-gate-0">
            <a:extLst>
              <a:ext uri="{FF2B5EF4-FFF2-40B4-BE49-F238E27FC236}">
                <a16:creationId xmlns:a16="http://schemas.microsoft.com/office/drawing/2014/main" id="{EBD656AB-7CF7-468C-81FD-1F9BEB1E95BB}"/>
              </a:ext>
            </a:extLst>
          </p:cNvPr>
          <p:cNvSpPr>
            <a:spLocks noGrp="1"/>
          </p:cNvSpPr>
          <p:nvPr/>
        </p:nvSpPr>
        <p:spPr>
          <a:xfrm>
            <a:off x="704850" y="2647950"/>
            <a:ext cx="123825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GATE 1</a:t>
            </a:r>
          </a:p>
        </p:txBody>
      </p:sp>
      <p:sp>
        <p:nvSpPr>
          <p:cNvPr id="9" name="pilot-title-0">
            <a:extLst>
              <a:ext uri="{FF2B5EF4-FFF2-40B4-BE49-F238E27FC236}">
                <a16:creationId xmlns:a16="http://schemas.microsoft.com/office/drawing/2014/main" id="{41BE3795-7E6C-461E-ADF6-DB3112665D12}"/>
              </a:ext>
            </a:extLst>
          </p:cNvPr>
          <p:cNvSpPr>
            <a:spLocks noGrp="1"/>
          </p:cNvSpPr>
          <p:nvPr/>
        </p:nvSpPr>
        <p:spPr>
          <a:xfrm>
            <a:off x="704850" y="3581400"/>
            <a:ext cx="3238500" cy="400050"/>
          </a:xfrm>
          <a:prstGeom prst="rect">
            <a:avLst/>
          </a:prstGeom>
          <a:noFill/>
          <a:ln w="0">
            <a:noFill/>
            <a:prstDash val="solid"/>
          </a:ln>
        </p:spPr>
        <p:txBody>
          <a:bodyPr wrap="square" lIns="0" tIns="0" rIns="0" bIns="0" anchor="t">
            <a:noAutofit/>
          </a:bodyPr>
          <a:lstStyle/>
          <a:p>
            <a:pPr algn="l">
              <a:lnSpc>
                <a:spcPct val="100000"/>
              </a:lnSpc>
              <a:buNone/>
              <a:defRPr sz="2100" b="1">
                <a:solidFill>
                  <a:srgbClr val="17211B"/>
                </a:solidFill>
                <a:latin typeface="Helvetica Neue"/>
                <a:ea typeface="Helvetica Neue"/>
                <a:cs typeface="Helvetica Neue"/>
              </a:defRPr>
            </a:pPr>
            <a:r>
              <a:rPr sz="2100" b="1">
                <a:solidFill>
                  <a:srgbClr val="17211B"/>
                </a:solidFill>
                <a:latin typeface="Helvetica Neue"/>
                <a:ea typeface="Helvetica Neue"/>
                <a:cs typeface="Helvetica Neue"/>
              </a:rPr>
              <a:t>Validate</a:t>
            </a:r>
          </a:p>
        </p:txBody>
      </p:sp>
      <p:sp>
        <p:nvSpPr>
          <p:cNvPr id="10" name="pilot-body-0">
            <a:extLst>
              <a:ext uri="{FF2B5EF4-FFF2-40B4-BE49-F238E27FC236}">
                <a16:creationId xmlns:a16="http://schemas.microsoft.com/office/drawing/2014/main" id="{17D5EDE2-902F-44D0-A106-7F76F295C64A}"/>
              </a:ext>
            </a:extLst>
          </p:cNvPr>
          <p:cNvSpPr>
            <a:spLocks noGrp="1"/>
          </p:cNvSpPr>
          <p:nvPr/>
        </p:nvSpPr>
        <p:spPr>
          <a:xfrm>
            <a:off x="704850" y="4143375"/>
            <a:ext cx="3238500" cy="876300"/>
          </a:xfrm>
          <a:prstGeom prst="rect">
            <a:avLst/>
          </a:prstGeom>
          <a:noFill/>
          <a:ln w="0">
            <a:noFill/>
            <a:prstDash val="solid"/>
          </a:ln>
        </p:spPr>
        <p:txBody>
          <a:bodyPr wrap="square" lIns="0" tIns="0" rIns="0" bIns="0" anchor="t">
            <a:noAutofit/>
          </a:bodyPr>
          <a:lstStyle/>
          <a:p>
            <a:pPr algn="l">
              <a:lnSpc>
                <a:spcPct val="105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Correct the liquidity method. Review Burmese copy and finance assumptions with SME and accounting specialists.</a:t>
            </a:r>
          </a:p>
        </p:txBody>
      </p:sp>
      <p:sp>
        <p:nvSpPr>
          <p:cNvPr id="11" name="pilot-test-0">
            <a:extLst>
              <a:ext uri="{FF2B5EF4-FFF2-40B4-BE49-F238E27FC236}">
                <a16:creationId xmlns:a16="http://schemas.microsoft.com/office/drawing/2014/main" id="{0FF6EB4E-B7ED-4E34-A0D7-A8B15C2D641A}"/>
              </a:ext>
            </a:extLst>
          </p:cNvPr>
          <p:cNvSpPr>
            <a:spLocks noGrp="1"/>
          </p:cNvSpPr>
          <p:nvPr/>
        </p:nvSpPr>
        <p:spPr>
          <a:xfrm>
            <a:off x="704850" y="5362575"/>
            <a:ext cx="3238500" cy="257175"/>
          </a:xfrm>
          <a:prstGeom prst="rect">
            <a:avLst/>
          </a:prstGeom>
          <a:noFill/>
          <a:ln w="0">
            <a:noFill/>
            <a:prstDash val="solid"/>
          </a:ln>
        </p:spPr>
        <p:txBody>
          <a:bodyPr wrap="square" lIns="0" tIns="0" rIns="0" bIns="0" anchor="t">
            <a:noAutofit/>
          </a:bodyPr>
          <a:lstStyle/>
          <a:p>
            <a:pPr algn="l">
              <a:lnSpc>
                <a:spcPct val="100000"/>
              </a:lnSpc>
              <a:buNone/>
              <a:defRPr sz="1125" b="1">
                <a:solidFill>
                  <a:srgbClr val="07523D"/>
                </a:solidFill>
                <a:latin typeface="Helvetica Neue"/>
                <a:ea typeface="Helvetica Neue"/>
                <a:cs typeface="Helvetica Neue"/>
              </a:defRPr>
            </a:pPr>
            <a:r>
              <a:rPr sz="1125" b="1">
                <a:solidFill>
                  <a:srgbClr val="07523D"/>
                </a:solidFill>
                <a:latin typeface="Helvetica Neue"/>
                <a:ea typeface="Helvetica Neue"/>
                <a:cs typeface="Helvetica Neue"/>
              </a:rPr>
              <a:t>Decision-quality benchmark</a:t>
            </a:r>
          </a:p>
        </p:txBody>
      </p:sp>
      <p:sp>
        <p:nvSpPr>
          <p:cNvPr id="12" name="pilot-dot-1">
            <a:extLst>
              <a:ext uri="{FF2B5EF4-FFF2-40B4-BE49-F238E27FC236}">
                <a16:creationId xmlns:a16="http://schemas.microsoft.com/office/drawing/2014/main" id="{7B470118-9D4E-42FB-BEC4-922C7156109C}"/>
              </a:ext>
            </a:extLst>
          </p:cNvPr>
          <p:cNvSpPr>
            <a:spLocks noGrp="1"/>
          </p:cNvSpPr>
          <p:nvPr/>
        </p:nvSpPr>
        <p:spPr>
          <a:xfrm>
            <a:off x="4457700" y="3190875"/>
            <a:ext cx="161925" cy="161925"/>
          </a:xfrm>
          <a:prstGeom prst="ellipse">
            <a:avLst/>
          </a:prstGeom>
          <a:solidFill>
            <a:srgbClr val="17211B"/>
          </a:solidFill>
          <a:ln w="0">
            <a:noFill/>
            <a:prstDash val="solid"/>
          </a:ln>
        </p:spPr>
      </p:sp>
      <p:sp>
        <p:nvSpPr>
          <p:cNvPr id="13" name="pilot-gate-1">
            <a:extLst>
              <a:ext uri="{FF2B5EF4-FFF2-40B4-BE49-F238E27FC236}">
                <a16:creationId xmlns:a16="http://schemas.microsoft.com/office/drawing/2014/main" id="{CFBC606F-9066-4CA5-81BB-1ED29335ACE0}"/>
              </a:ext>
            </a:extLst>
          </p:cNvPr>
          <p:cNvSpPr>
            <a:spLocks noGrp="1"/>
          </p:cNvSpPr>
          <p:nvPr/>
        </p:nvSpPr>
        <p:spPr>
          <a:xfrm>
            <a:off x="4457700" y="2647950"/>
            <a:ext cx="123825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GATE 2</a:t>
            </a:r>
          </a:p>
        </p:txBody>
      </p:sp>
      <p:sp>
        <p:nvSpPr>
          <p:cNvPr id="14" name="pilot-title-1">
            <a:extLst>
              <a:ext uri="{FF2B5EF4-FFF2-40B4-BE49-F238E27FC236}">
                <a16:creationId xmlns:a16="http://schemas.microsoft.com/office/drawing/2014/main" id="{F991FB7F-7CA5-4683-9E23-0424176F036B}"/>
              </a:ext>
            </a:extLst>
          </p:cNvPr>
          <p:cNvSpPr>
            <a:spLocks noGrp="1"/>
          </p:cNvSpPr>
          <p:nvPr/>
        </p:nvSpPr>
        <p:spPr>
          <a:xfrm>
            <a:off x="4457700" y="3581400"/>
            <a:ext cx="3238500" cy="400050"/>
          </a:xfrm>
          <a:prstGeom prst="rect">
            <a:avLst/>
          </a:prstGeom>
          <a:noFill/>
          <a:ln w="0">
            <a:noFill/>
            <a:prstDash val="solid"/>
          </a:ln>
        </p:spPr>
        <p:txBody>
          <a:bodyPr wrap="square" lIns="0" tIns="0" rIns="0" bIns="0" anchor="t">
            <a:noAutofit/>
          </a:bodyPr>
          <a:lstStyle/>
          <a:p>
            <a:pPr algn="l">
              <a:lnSpc>
                <a:spcPct val="100000"/>
              </a:lnSpc>
              <a:buNone/>
              <a:defRPr sz="2100" b="1">
                <a:solidFill>
                  <a:srgbClr val="17211B"/>
                </a:solidFill>
                <a:latin typeface="Helvetica Neue"/>
                <a:ea typeface="Helvetica Neue"/>
                <a:cs typeface="Helvetica Neue"/>
              </a:defRPr>
            </a:pPr>
            <a:r>
              <a:rPr sz="2100" b="1">
                <a:solidFill>
                  <a:srgbClr val="17211B"/>
                </a:solidFill>
                <a:latin typeface="Helvetica Neue"/>
                <a:ea typeface="Helvetica Neue"/>
                <a:cs typeface="Helvetica Neue"/>
              </a:rPr>
              <a:t>Pilot</a:t>
            </a:r>
          </a:p>
        </p:txBody>
      </p:sp>
      <p:sp>
        <p:nvSpPr>
          <p:cNvPr id="15" name="pilot-body-1">
            <a:extLst>
              <a:ext uri="{FF2B5EF4-FFF2-40B4-BE49-F238E27FC236}">
                <a16:creationId xmlns:a16="http://schemas.microsoft.com/office/drawing/2014/main" id="{B07B0E80-44C8-4F31-8C3E-9E2AC673AB5C}"/>
              </a:ext>
            </a:extLst>
          </p:cNvPr>
          <p:cNvSpPr>
            <a:spLocks noGrp="1"/>
          </p:cNvSpPr>
          <p:nvPr/>
        </p:nvSpPr>
        <p:spPr>
          <a:xfrm>
            <a:off x="4457700" y="4143375"/>
            <a:ext cx="3238500" cy="876300"/>
          </a:xfrm>
          <a:prstGeom prst="rect">
            <a:avLst/>
          </a:prstGeom>
          <a:noFill/>
          <a:ln w="0">
            <a:noFill/>
            <a:prstDash val="solid"/>
          </a:ln>
        </p:spPr>
        <p:txBody>
          <a:bodyPr wrap="square" lIns="0" tIns="0" rIns="0" bIns="0" anchor="t">
            <a:noAutofit/>
          </a:bodyPr>
          <a:lstStyle/>
          <a:p>
            <a:pPr algn="l">
              <a:lnSpc>
                <a:spcPct val="105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Run with consented, de-identified SME inputs under rate limits, access controls, audit logs and human review.</a:t>
            </a:r>
          </a:p>
        </p:txBody>
      </p:sp>
      <p:sp>
        <p:nvSpPr>
          <p:cNvPr id="16" name="pilot-test-1">
            <a:extLst>
              <a:ext uri="{FF2B5EF4-FFF2-40B4-BE49-F238E27FC236}">
                <a16:creationId xmlns:a16="http://schemas.microsoft.com/office/drawing/2014/main" id="{21E5F7DF-50C4-4E54-BAFF-F70108CBDD1A}"/>
              </a:ext>
            </a:extLst>
          </p:cNvPr>
          <p:cNvSpPr>
            <a:spLocks noGrp="1"/>
          </p:cNvSpPr>
          <p:nvPr/>
        </p:nvSpPr>
        <p:spPr>
          <a:xfrm>
            <a:off x="4457700" y="5362575"/>
            <a:ext cx="3238500" cy="257175"/>
          </a:xfrm>
          <a:prstGeom prst="rect">
            <a:avLst/>
          </a:prstGeom>
          <a:noFill/>
          <a:ln w="0">
            <a:noFill/>
            <a:prstDash val="solid"/>
          </a:ln>
        </p:spPr>
        <p:txBody>
          <a:bodyPr wrap="square" lIns="0" tIns="0" rIns="0" bIns="0" anchor="t">
            <a:noAutofit/>
          </a:bodyPr>
          <a:lstStyle/>
          <a:p>
            <a:pPr algn="l">
              <a:lnSpc>
                <a:spcPct val="100000"/>
              </a:lnSpc>
              <a:buNone/>
              <a:defRPr sz="1125" b="1">
                <a:solidFill>
                  <a:srgbClr val="07523D"/>
                </a:solidFill>
                <a:latin typeface="Helvetica Neue"/>
                <a:ea typeface="Helvetica Neue"/>
                <a:cs typeface="Helvetica Neue"/>
              </a:defRPr>
            </a:pPr>
            <a:r>
              <a:rPr sz="1125" b="1">
                <a:solidFill>
                  <a:srgbClr val="07523D"/>
                </a:solidFill>
                <a:latin typeface="Helvetica Neue"/>
                <a:ea typeface="Helvetica Neue"/>
                <a:cs typeface="Helvetica Neue"/>
              </a:rPr>
              <a:t>Safe, useful conversations</a:t>
            </a:r>
          </a:p>
        </p:txBody>
      </p:sp>
      <p:sp>
        <p:nvSpPr>
          <p:cNvPr id="17" name="pilot-dot-2">
            <a:extLst>
              <a:ext uri="{FF2B5EF4-FFF2-40B4-BE49-F238E27FC236}">
                <a16:creationId xmlns:a16="http://schemas.microsoft.com/office/drawing/2014/main" id="{8CA71BCD-A5A0-4DCE-894B-21CCF07A0BB6}"/>
              </a:ext>
            </a:extLst>
          </p:cNvPr>
          <p:cNvSpPr>
            <a:spLocks noGrp="1"/>
          </p:cNvSpPr>
          <p:nvPr/>
        </p:nvSpPr>
        <p:spPr>
          <a:xfrm>
            <a:off x="8210550" y="3190875"/>
            <a:ext cx="161925" cy="161925"/>
          </a:xfrm>
          <a:prstGeom prst="ellipse">
            <a:avLst/>
          </a:prstGeom>
          <a:solidFill>
            <a:srgbClr val="17211B"/>
          </a:solidFill>
          <a:ln w="0">
            <a:noFill/>
            <a:prstDash val="solid"/>
          </a:ln>
        </p:spPr>
      </p:sp>
      <p:sp>
        <p:nvSpPr>
          <p:cNvPr id="18" name="pilot-gate-2">
            <a:extLst>
              <a:ext uri="{FF2B5EF4-FFF2-40B4-BE49-F238E27FC236}">
                <a16:creationId xmlns:a16="http://schemas.microsoft.com/office/drawing/2014/main" id="{1F2597F5-A586-4300-A73B-EEFEC969D0CC}"/>
              </a:ext>
            </a:extLst>
          </p:cNvPr>
          <p:cNvSpPr>
            <a:spLocks noGrp="1"/>
          </p:cNvSpPr>
          <p:nvPr/>
        </p:nvSpPr>
        <p:spPr>
          <a:xfrm>
            <a:off x="8210550" y="2647950"/>
            <a:ext cx="1238250" cy="228600"/>
          </a:xfrm>
          <a:prstGeom prst="rect">
            <a:avLst/>
          </a:prstGeom>
          <a:noFill/>
          <a:ln w="0">
            <a:noFill/>
            <a:prstDash val="solid"/>
          </a:ln>
        </p:spPr>
        <p:txBody>
          <a:bodyPr wrap="square" lIns="0" tIns="0" rIns="0" bIns="0" anchor="t">
            <a:noAutofit/>
          </a:bodyPr>
          <a:lstStyle/>
          <a:p>
            <a:pPr algn="l">
              <a:lnSpc>
                <a:spcPct val="100000"/>
              </a:lnSpc>
              <a:buNone/>
              <a:defRPr sz="1050" b="1">
                <a:solidFill>
                  <a:srgbClr val="0E6B50"/>
                </a:solidFill>
                <a:latin typeface="Helvetica Neue"/>
                <a:ea typeface="Helvetica Neue"/>
                <a:cs typeface="Helvetica Neue"/>
              </a:defRPr>
            </a:pPr>
            <a:r>
              <a:rPr sz="1050" b="1">
                <a:solidFill>
                  <a:srgbClr val="0E6B50"/>
                </a:solidFill>
                <a:latin typeface="Helvetica Neue"/>
                <a:ea typeface="Helvetica Neue"/>
                <a:cs typeface="Helvetica Neue"/>
              </a:rPr>
              <a:t>GATE 3</a:t>
            </a:r>
          </a:p>
        </p:txBody>
      </p:sp>
      <p:sp>
        <p:nvSpPr>
          <p:cNvPr id="19" name="pilot-title-2">
            <a:extLst>
              <a:ext uri="{FF2B5EF4-FFF2-40B4-BE49-F238E27FC236}">
                <a16:creationId xmlns:a16="http://schemas.microsoft.com/office/drawing/2014/main" id="{4480317E-4787-4695-9D29-20B8014F7FB3}"/>
              </a:ext>
            </a:extLst>
          </p:cNvPr>
          <p:cNvSpPr>
            <a:spLocks noGrp="1"/>
          </p:cNvSpPr>
          <p:nvPr/>
        </p:nvSpPr>
        <p:spPr>
          <a:xfrm>
            <a:off x="8210550" y="3581400"/>
            <a:ext cx="3238500" cy="400050"/>
          </a:xfrm>
          <a:prstGeom prst="rect">
            <a:avLst/>
          </a:prstGeom>
          <a:noFill/>
          <a:ln w="0">
            <a:noFill/>
            <a:prstDash val="solid"/>
          </a:ln>
        </p:spPr>
        <p:txBody>
          <a:bodyPr wrap="square" lIns="0" tIns="0" rIns="0" bIns="0" anchor="t">
            <a:noAutofit/>
          </a:bodyPr>
          <a:lstStyle/>
          <a:p>
            <a:pPr algn="l">
              <a:lnSpc>
                <a:spcPct val="100000"/>
              </a:lnSpc>
              <a:buNone/>
              <a:defRPr sz="2100" b="1">
                <a:solidFill>
                  <a:srgbClr val="17211B"/>
                </a:solidFill>
                <a:latin typeface="Helvetica Neue"/>
                <a:ea typeface="Helvetica Neue"/>
                <a:cs typeface="Helvetica Neue"/>
              </a:defRPr>
            </a:pPr>
            <a:r>
              <a:rPr sz="2100" b="1">
                <a:solidFill>
                  <a:srgbClr val="17211B"/>
                </a:solidFill>
                <a:latin typeface="Helvetica Neue"/>
                <a:ea typeface="Helvetica Neue"/>
                <a:cs typeface="Helvetica Neue"/>
              </a:rPr>
              <a:t>Integrate</a:t>
            </a:r>
          </a:p>
        </p:txBody>
      </p:sp>
      <p:sp>
        <p:nvSpPr>
          <p:cNvPr id="20" name="pilot-body-2">
            <a:extLst>
              <a:ext uri="{FF2B5EF4-FFF2-40B4-BE49-F238E27FC236}">
                <a16:creationId xmlns:a16="http://schemas.microsoft.com/office/drawing/2014/main" id="{894CE037-D2CA-4507-B1DF-F3E72B47CA3A}"/>
              </a:ext>
            </a:extLst>
          </p:cNvPr>
          <p:cNvSpPr>
            <a:spLocks noGrp="1"/>
          </p:cNvSpPr>
          <p:nvPr/>
        </p:nvSpPr>
        <p:spPr>
          <a:xfrm>
            <a:off x="8210550" y="4143375"/>
            <a:ext cx="3238500" cy="876300"/>
          </a:xfrm>
          <a:prstGeom prst="rect">
            <a:avLst/>
          </a:prstGeom>
          <a:noFill/>
          <a:ln w="0">
            <a:noFill/>
            <a:prstDash val="solid"/>
          </a:ln>
        </p:spPr>
        <p:txBody>
          <a:bodyPr wrap="square" lIns="0" tIns="0" rIns="0" bIns="0" anchor="t">
            <a:noAutofit/>
          </a:bodyPr>
          <a:lstStyle/>
          <a:p>
            <a:pPr algn="l">
              <a:lnSpc>
                <a:spcPct val="105000"/>
              </a:lnSpc>
              <a:buNone/>
              <a:defRPr sz="1275" b="0">
                <a:solidFill>
                  <a:srgbClr val="59665F"/>
                </a:solidFill>
                <a:latin typeface="Helvetica Neue"/>
                <a:ea typeface="Helvetica Neue"/>
                <a:cs typeface="Helvetica Neue"/>
              </a:defRPr>
            </a:pPr>
            <a:r>
              <a:rPr sz="1275" b="0">
                <a:solidFill>
                  <a:srgbClr val="59665F"/>
                </a:solidFill>
                <a:latin typeface="Helvetica Neue"/>
                <a:ea typeface="Helvetica Neue"/>
                <a:cs typeface="Helvetica Neue"/>
              </a:rPr>
              <a:t>Add approved data adapters, secure tenancy, observability and policy controls—without letting AI own the ledger.</a:t>
            </a:r>
          </a:p>
        </p:txBody>
      </p:sp>
      <p:sp>
        <p:nvSpPr>
          <p:cNvPr id="21" name="pilot-test-2">
            <a:extLst>
              <a:ext uri="{FF2B5EF4-FFF2-40B4-BE49-F238E27FC236}">
                <a16:creationId xmlns:a16="http://schemas.microsoft.com/office/drawing/2014/main" id="{649D9AEF-1BD4-4CD6-BAF6-9F569A5E6AEC}"/>
              </a:ext>
            </a:extLst>
          </p:cNvPr>
          <p:cNvSpPr>
            <a:spLocks noGrp="1"/>
          </p:cNvSpPr>
          <p:nvPr/>
        </p:nvSpPr>
        <p:spPr>
          <a:xfrm>
            <a:off x="8210550" y="5362575"/>
            <a:ext cx="3238500" cy="257175"/>
          </a:xfrm>
          <a:prstGeom prst="rect">
            <a:avLst/>
          </a:prstGeom>
          <a:noFill/>
          <a:ln w="0">
            <a:noFill/>
            <a:prstDash val="solid"/>
          </a:ln>
        </p:spPr>
        <p:txBody>
          <a:bodyPr wrap="square" lIns="0" tIns="0" rIns="0" bIns="0" anchor="t">
            <a:noAutofit/>
          </a:bodyPr>
          <a:lstStyle/>
          <a:p>
            <a:pPr algn="l">
              <a:lnSpc>
                <a:spcPct val="100000"/>
              </a:lnSpc>
              <a:buNone/>
              <a:defRPr sz="1125" b="1">
                <a:solidFill>
                  <a:srgbClr val="07523D"/>
                </a:solidFill>
                <a:latin typeface="Helvetica Neue"/>
                <a:ea typeface="Helvetica Neue"/>
                <a:cs typeface="Helvetica Neue"/>
              </a:defRPr>
            </a:pPr>
            <a:r>
              <a:rPr sz="1125" b="1">
                <a:solidFill>
                  <a:srgbClr val="07523D"/>
                </a:solidFill>
                <a:latin typeface="Helvetica Neue"/>
                <a:ea typeface="Helvetica Neue"/>
                <a:cs typeface="Helvetica Neue"/>
              </a:rPr>
              <a:t>Operational readiness</a:t>
            </a:r>
          </a:p>
        </p:txBody>
      </p:sp>
      <p:sp>
        <p:nvSpPr>
          <p:cNvPr id="22" name="pilot-principle">
            <a:extLst>
              <a:ext uri="{FF2B5EF4-FFF2-40B4-BE49-F238E27FC236}">
                <a16:creationId xmlns:a16="http://schemas.microsoft.com/office/drawing/2014/main" id="{16FE02E8-7C82-47F8-BB1C-4918D1289F90}"/>
              </a:ext>
            </a:extLst>
          </p:cNvPr>
          <p:cNvSpPr>
            <a:spLocks noGrp="1"/>
          </p:cNvSpPr>
          <p:nvPr/>
        </p:nvSpPr>
        <p:spPr>
          <a:xfrm>
            <a:off x="457200" y="6010275"/>
            <a:ext cx="11125200" cy="304800"/>
          </a:xfrm>
          <a:prstGeom prst="rect">
            <a:avLst/>
          </a:prstGeom>
          <a:noFill/>
          <a:ln w="0">
            <a:noFill/>
            <a:prstDash val="solid"/>
          </a:ln>
        </p:spPr>
        <p:txBody>
          <a:bodyPr wrap="square" lIns="0" tIns="0" rIns="0" bIns="0" anchor="t">
            <a:noAutofit/>
          </a:bodyPr>
          <a:lstStyle/>
          <a:p>
            <a:pPr algn="ctr">
              <a:lnSpc>
                <a:spcPct val="100000"/>
              </a:lnSpc>
              <a:buNone/>
              <a:defRPr sz="1425" b="1">
                <a:solidFill>
                  <a:srgbClr val="17211B"/>
                </a:solidFill>
                <a:latin typeface="Helvetica Neue"/>
                <a:ea typeface="Helvetica Neue"/>
                <a:cs typeface="Helvetica Neue"/>
              </a:defRPr>
            </a:pPr>
            <a:r>
              <a:rPr sz="1425" b="1">
                <a:solidFill>
                  <a:srgbClr val="17211B"/>
                </a:solidFill>
                <a:latin typeface="Helvetica Neue"/>
                <a:ea typeface="Helvetica Neue"/>
                <a:cs typeface="Helvetica Neue"/>
              </a:rPr>
              <a:t>Principle: consent before data • controls before scale • evidence before recommendation</a:t>
            </a:r>
          </a:p>
        </p:txBody>
      </p:sp>
    </p:spTree>
    <p:extLst>
      <p:ext uri="{BB962C8B-B14F-4D97-AF65-F5344CB8AC3E}">
        <p14:creationId xmlns:p14="http://schemas.microsoft.com/office/powerpoint/2010/main" val="167753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close-rail">
            <a:extLst>
              <a:ext uri="{FF2B5EF4-FFF2-40B4-BE49-F238E27FC236}">
                <a16:creationId xmlns:a16="http://schemas.microsoft.com/office/drawing/2014/main" id="{51A76184-DCC8-4305-A709-CC732BADF4FE}"/>
              </a:ext>
            </a:extLst>
          </p:cNvPr>
          <p:cNvSpPr>
            <a:spLocks noGrp="1"/>
          </p:cNvSpPr>
          <p:nvPr/>
        </p:nvSpPr>
        <p:spPr>
          <a:xfrm>
            <a:off x="0" y="0"/>
            <a:ext cx="133350" cy="6858000"/>
          </a:xfrm>
          <a:prstGeom prst="rect">
            <a:avLst/>
          </a:prstGeom>
          <a:solidFill>
            <a:srgbClr val="0E6B50"/>
          </a:solidFill>
          <a:ln w="0">
            <a:noFill/>
            <a:prstDash val="solid"/>
          </a:ln>
        </p:spPr>
      </p:sp>
      <p:sp>
        <p:nvSpPr>
          <p:cNvPr id="2" name="close-kicker">
            <a:extLst>
              <a:ext uri="{FF2B5EF4-FFF2-40B4-BE49-F238E27FC236}">
                <a16:creationId xmlns:a16="http://schemas.microsoft.com/office/drawing/2014/main" id="{117124FA-6E7A-4A07-B9FE-90A9EF2F7AC0}"/>
              </a:ext>
            </a:extLst>
          </p:cNvPr>
          <p:cNvSpPr>
            <a:spLocks noGrp="1"/>
          </p:cNvSpPr>
          <p:nvPr/>
        </p:nvSpPr>
        <p:spPr>
          <a:xfrm>
            <a:off x="590550" y="485775"/>
            <a:ext cx="2476500" cy="266700"/>
          </a:xfrm>
          <a:prstGeom prst="rect">
            <a:avLst/>
          </a:prstGeom>
          <a:noFill/>
          <a:ln w="0">
            <a:noFill/>
            <a:prstDash val="solid"/>
          </a:ln>
        </p:spPr>
        <p:txBody>
          <a:bodyPr wrap="square" lIns="0" tIns="0" rIns="0" bIns="0" anchor="t">
            <a:noAutofit/>
          </a:bodyPr>
          <a:lstStyle/>
          <a:p>
            <a:pPr algn="l">
              <a:lnSpc>
                <a:spcPct val="100000"/>
              </a:lnSpc>
              <a:buNone/>
              <a:defRPr sz="1200" b="1">
                <a:solidFill>
                  <a:srgbClr val="0E6B50"/>
                </a:solidFill>
                <a:latin typeface="Helvetica Neue"/>
                <a:ea typeface="Helvetica Neue"/>
                <a:cs typeface="Helvetica Neue"/>
              </a:defRPr>
            </a:pPr>
            <a:r>
              <a:rPr sz="1200" b="1">
                <a:solidFill>
                  <a:srgbClr val="0E6B50"/>
                </a:solidFill>
                <a:latin typeface="Helvetica Neue"/>
                <a:ea typeface="Helvetica Neue"/>
                <a:cs typeface="Helvetica Neue"/>
              </a:rPr>
              <a:t>THE OPPORTUNITY</a:t>
            </a:r>
          </a:p>
        </p:txBody>
      </p:sp>
      <p:sp>
        <p:nvSpPr>
          <p:cNvPr id="3" name="close-title">
            <a:extLst>
              <a:ext uri="{FF2B5EF4-FFF2-40B4-BE49-F238E27FC236}">
                <a16:creationId xmlns:a16="http://schemas.microsoft.com/office/drawing/2014/main" id="{ECDD9AAE-F93E-4C54-ACFD-5B79C1EF12A4}"/>
              </a:ext>
            </a:extLst>
          </p:cNvPr>
          <p:cNvSpPr>
            <a:spLocks noGrp="1"/>
          </p:cNvSpPr>
          <p:nvPr/>
        </p:nvSpPr>
        <p:spPr>
          <a:xfrm>
            <a:off x="590550" y="1438275"/>
            <a:ext cx="9429750" cy="1619250"/>
          </a:xfrm>
          <a:prstGeom prst="rect">
            <a:avLst/>
          </a:prstGeom>
          <a:noFill/>
          <a:ln w="0">
            <a:noFill/>
            <a:prstDash val="solid"/>
          </a:ln>
        </p:spPr>
        <p:txBody>
          <a:bodyPr wrap="square" lIns="0" tIns="0" rIns="0" bIns="0" anchor="t">
            <a:noAutofit/>
          </a:bodyPr>
          <a:lstStyle/>
          <a:p>
            <a:pPr algn="l">
              <a:lnSpc>
                <a:spcPct val="92000"/>
              </a:lnSpc>
              <a:buNone/>
              <a:defRPr sz="4425" b="1">
                <a:solidFill>
                  <a:srgbClr val="17211B"/>
                </a:solidFill>
                <a:latin typeface="Helvetica Neue"/>
                <a:ea typeface="Helvetica Neue"/>
                <a:cs typeface="Helvetica Neue"/>
              </a:defRPr>
            </a:pPr>
            <a:r>
              <a:rPr sz="4425" b="1">
                <a:solidFill>
                  <a:srgbClr val="17211B"/>
                </a:solidFill>
                <a:latin typeface="Helvetica Neue"/>
                <a:ea typeface="Helvetica Neue"/>
                <a:cs typeface="Helvetica Neue"/>
              </a:rPr>
              <a:t>Make every SME conversation</a:t>
            </a:r>
          </a:p>
          <a:p>
            <a:pPr algn="l">
              <a:lnSpc>
                <a:spcPct val="92000"/>
              </a:lnSpc>
              <a:buNone/>
              <a:defRPr sz="4425" b="1">
                <a:solidFill>
                  <a:srgbClr val="17211B"/>
                </a:solidFill>
                <a:latin typeface="Helvetica Neue"/>
                <a:ea typeface="Helvetica Neue"/>
                <a:cs typeface="Helvetica Neue"/>
              </a:defRPr>
            </a:pPr>
            <a:r>
              <a:rPr sz="4425" b="1">
                <a:solidFill>
                  <a:srgbClr val="17211B"/>
                </a:solidFill>
                <a:latin typeface="Helvetica Neue"/>
                <a:ea typeface="Helvetica Neue"/>
                <a:cs typeface="Helvetica Neue"/>
              </a:rPr>
              <a:t>start with evidence.</a:t>
            </a:r>
          </a:p>
        </p:txBody>
      </p:sp>
      <p:sp>
        <p:nvSpPr>
          <p:cNvPr id="4" name="close-copy">
            <a:extLst>
              <a:ext uri="{FF2B5EF4-FFF2-40B4-BE49-F238E27FC236}">
                <a16:creationId xmlns:a16="http://schemas.microsoft.com/office/drawing/2014/main" id="{A8021D5C-642F-4A6D-9F6E-BF2B2C355E7F}"/>
              </a:ext>
            </a:extLst>
          </p:cNvPr>
          <p:cNvSpPr>
            <a:spLocks noGrp="1"/>
          </p:cNvSpPr>
          <p:nvPr/>
        </p:nvSpPr>
        <p:spPr>
          <a:xfrm>
            <a:off x="609600" y="3457575"/>
            <a:ext cx="9048750" cy="819150"/>
          </a:xfrm>
          <a:prstGeom prst="rect">
            <a:avLst/>
          </a:prstGeom>
          <a:noFill/>
          <a:ln w="0">
            <a:noFill/>
            <a:prstDash val="solid"/>
          </a:ln>
        </p:spPr>
        <p:txBody>
          <a:bodyPr wrap="square" lIns="0" tIns="0" rIns="0" bIns="0" anchor="t">
            <a:noAutofit/>
          </a:bodyPr>
          <a:lstStyle/>
          <a:p>
            <a:pPr algn="l">
              <a:lnSpc>
                <a:spcPct val="102000"/>
              </a:lnSpc>
              <a:buNone/>
              <a:defRPr sz="1875" b="0">
                <a:solidFill>
                  <a:srgbClr val="59665F"/>
                </a:solidFill>
                <a:latin typeface="Helvetica Neue"/>
                <a:ea typeface="Helvetica Neue"/>
                <a:cs typeface="Helvetica Neue"/>
              </a:defRPr>
            </a:pPr>
            <a:r>
              <a:rPr sz="1875" b="0">
                <a:solidFill>
                  <a:srgbClr val="59665F"/>
                </a:solidFill>
                <a:latin typeface="Helvetica Neue"/>
                <a:ea typeface="Helvetica Neue"/>
                <a:cs typeface="Helvetica Neue"/>
              </a:rPr>
              <a:t>Validate a consented, non-underwriting pilot with UAB’s SME, finance and risk stakeholders—then scale only what proves useful and safe.</a:t>
            </a:r>
          </a:p>
        </p:txBody>
      </p:sp>
      <p:sp>
        <p:nvSpPr>
          <p:cNvPr id="5" name="close-bar">
            <a:extLst>
              <a:ext uri="{FF2B5EF4-FFF2-40B4-BE49-F238E27FC236}">
                <a16:creationId xmlns:a16="http://schemas.microsoft.com/office/drawing/2014/main" id="{EC410B91-846F-499C-BCAD-4F1CFEAAE591}"/>
              </a:ext>
            </a:extLst>
          </p:cNvPr>
          <p:cNvSpPr>
            <a:spLocks noGrp="1"/>
          </p:cNvSpPr>
          <p:nvPr/>
        </p:nvSpPr>
        <p:spPr>
          <a:xfrm>
            <a:off x="590550" y="4762500"/>
            <a:ext cx="10991850" cy="19050"/>
          </a:xfrm>
          <a:prstGeom prst="rect">
            <a:avLst/>
          </a:prstGeom>
          <a:solidFill>
            <a:srgbClr val="D9DED9"/>
          </a:solidFill>
          <a:ln w="0">
            <a:noFill/>
            <a:prstDash val="solid"/>
          </a:ln>
        </p:spPr>
      </p:sp>
      <p:sp>
        <p:nvSpPr>
          <p:cNvPr id="6" name="close-label-0">
            <a:extLst>
              <a:ext uri="{FF2B5EF4-FFF2-40B4-BE49-F238E27FC236}">
                <a16:creationId xmlns:a16="http://schemas.microsoft.com/office/drawing/2014/main" id="{AD2753D6-448A-44BF-8589-20D3F5EB58FE}"/>
              </a:ext>
            </a:extLst>
          </p:cNvPr>
          <p:cNvSpPr>
            <a:spLocks noGrp="1"/>
          </p:cNvSpPr>
          <p:nvPr/>
        </p:nvSpPr>
        <p:spPr>
          <a:xfrm>
            <a:off x="590550" y="5076825"/>
            <a:ext cx="314325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0E6B50"/>
                </a:solidFill>
                <a:latin typeface="Helvetica Neue"/>
                <a:ea typeface="Helvetica Neue"/>
                <a:cs typeface="Helvetica Neue"/>
              </a:defRPr>
            </a:pPr>
            <a:r>
              <a:rPr sz="975" b="1">
                <a:solidFill>
                  <a:srgbClr val="0E6B50"/>
                </a:solidFill>
                <a:latin typeface="Helvetica Neue"/>
                <a:ea typeface="Helvetica Neue"/>
                <a:cs typeface="Helvetica Neue"/>
              </a:rPr>
              <a:t>FOR THE OWNER</a:t>
            </a:r>
          </a:p>
        </p:txBody>
      </p:sp>
      <p:sp>
        <p:nvSpPr>
          <p:cNvPr id="7" name="close-body-0">
            <a:extLst>
              <a:ext uri="{FF2B5EF4-FFF2-40B4-BE49-F238E27FC236}">
                <a16:creationId xmlns:a16="http://schemas.microsoft.com/office/drawing/2014/main" id="{221BED72-084C-4831-86AD-D80245F22E6B}"/>
              </a:ext>
            </a:extLst>
          </p:cNvPr>
          <p:cNvSpPr>
            <a:spLocks noGrp="1"/>
          </p:cNvSpPr>
          <p:nvPr/>
        </p:nvSpPr>
        <p:spPr>
          <a:xfrm>
            <a:off x="590550" y="5429250"/>
            <a:ext cx="3143250" cy="581025"/>
          </a:xfrm>
          <a:prstGeom prst="rect">
            <a:avLst/>
          </a:prstGeom>
          <a:noFill/>
          <a:ln w="0">
            <a:noFill/>
            <a:prstDash val="solid"/>
          </a:ln>
        </p:spPr>
        <p:txBody>
          <a:bodyPr wrap="square" lIns="0" tIns="0" rIns="0" bIns="0" anchor="t">
            <a:noAutofit/>
          </a:bodyPr>
          <a:lstStyle/>
          <a:p>
            <a:pPr algn="l">
              <a:lnSpc>
                <a:spcPct val="100000"/>
              </a:lnSpc>
              <a:buNone/>
              <a:defRPr sz="1425" b="1">
                <a:solidFill>
                  <a:srgbClr val="17211B"/>
                </a:solidFill>
                <a:latin typeface="Helvetica Neue"/>
                <a:ea typeface="Helvetica Neue"/>
                <a:cs typeface="Helvetica Neue"/>
              </a:defRPr>
            </a:pPr>
            <a:r>
              <a:rPr sz="1425" b="1">
                <a:solidFill>
                  <a:srgbClr val="17211B"/>
                </a:solidFill>
                <a:latin typeface="Helvetica Neue"/>
                <a:ea typeface="Helvetica Neue"/>
                <a:cs typeface="Helvetica Neue"/>
              </a:rPr>
              <a:t>A clearer next action in Burmese or English.</a:t>
            </a:r>
          </a:p>
        </p:txBody>
      </p:sp>
      <p:sp>
        <p:nvSpPr>
          <p:cNvPr id="8" name="close-label-1">
            <a:extLst>
              <a:ext uri="{FF2B5EF4-FFF2-40B4-BE49-F238E27FC236}">
                <a16:creationId xmlns:a16="http://schemas.microsoft.com/office/drawing/2014/main" id="{98D770FC-6638-4E6D-956A-174A56554697}"/>
              </a:ext>
            </a:extLst>
          </p:cNvPr>
          <p:cNvSpPr>
            <a:spLocks noGrp="1"/>
          </p:cNvSpPr>
          <p:nvPr/>
        </p:nvSpPr>
        <p:spPr>
          <a:xfrm>
            <a:off x="4248150" y="5076825"/>
            <a:ext cx="314325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0E6B50"/>
                </a:solidFill>
                <a:latin typeface="Helvetica Neue"/>
                <a:ea typeface="Helvetica Neue"/>
                <a:cs typeface="Helvetica Neue"/>
              </a:defRPr>
            </a:pPr>
            <a:r>
              <a:rPr sz="975" b="1">
                <a:solidFill>
                  <a:srgbClr val="0E6B50"/>
                </a:solidFill>
                <a:latin typeface="Helvetica Neue"/>
                <a:ea typeface="Helvetica Neue"/>
                <a:cs typeface="Helvetica Neue"/>
              </a:rPr>
              <a:t>FOR UAB</a:t>
            </a:r>
          </a:p>
        </p:txBody>
      </p:sp>
      <p:sp>
        <p:nvSpPr>
          <p:cNvPr id="9" name="close-body-1">
            <a:extLst>
              <a:ext uri="{FF2B5EF4-FFF2-40B4-BE49-F238E27FC236}">
                <a16:creationId xmlns:a16="http://schemas.microsoft.com/office/drawing/2014/main" id="{2B0A1B87-3B6A-406A-9030-577707511D23}"/>
              </a:ext>
            </a:extLst>
          </p:cNvPr>
          <p:cNvSpPr>
            <a:spLocks noGrp="1"/>
          </p:cNvSpPr>
          <p:nvPr/>
        </p:nvSpPr>
        <p:spPr>
          <a:xfrm>
            <a:off x="4248150" y="5429250"/>
            <a:ext cx="3143250" cy="581025"/>
          </a:xfrm>
          <a:prstGeom prst="rect">
            <a:avLst/>
          </a:prstGeom>
          <a:noFill/>
          <a:ln w="0">
            <a:noFill/>
            <a:prstDash val="solid"/>
          </a:ln>
        </p:spPr>
        <p:txBody>
          <a:bodyPr wrap="square" lIns="0" tIns="0" rIns="0" bIns="0" anchor="t">
            <a:noAutofit/>
          </a:bodyPr>
          <a:lstStyle/>
          <a:p>
            <a:pPr algn="l">
              <a:lnSpc>
                <a:spcPct val="100000"/>
              </a:lnSpc>
              <a:buNone/>
              <a:defRPr sz="1425" b="1">
                <a:solidFill>
                  <a:srgbClr val="17211B"/>
                </a:solidFill>
                <a:latin typeface="Helvetica Neue"/>
                <a:ea typeface="Helvetica Neue"/>
                <a:cs typeface="Helvetica Neue"/>
              </a:defRPr>
            </a:pPr>
            <a:r>
              <a:rPr sz="1425" b="1">
                <a:solidFill>
                  <a:srgbClr val="17211B"/>
                </a:solidFill>
                <a:latin typeface="Helvetica Neue"/>
                <a:ea typeface="Helvetica Neue"/>
                <a:cs typeface="Helvetica Neue"/>
              </a:rPr>
              <a:t>A better-prepared, evidence-led SME conversation.</a:t>
            </a:r>
          </a:p>
        </p:txBody>
      </p:sp>
      <p:sp>
        <p:nvSpPr>
          <p:cNvPr id="10" name="close-label-2">
            <a:extLst>
              <a:ext uri="{FF2B5EF4-FFF2-40B4-BE49-F238E27FC236}">
                <a16:creationId xmlns:a16="http://schemas.microsoft.com/office/drawing/2014/main" id="{66886C3D-10A8-487D-8869-C75AF0F6606A}"/>
              </a:ext>
            </a:extLst>
          </p:cNvPr>
          <p:cNvSpPr>
            <a:spLocks noGrp="1"/>
          </p:cNvSpPr>
          <p:nvPr/>
        </p:nvSpPr>
        <p:spPr>
          <a:xfrm>
            <a:off x="7905750" y="5076825"/>
            <a:ext cx="3143250" cy="209550"/>
          </a:xfrm>
          <a:prstGeom prst="rect">
            <a:avLst/>
          </a:prstGeom>
          <a:noFill/>
          <a:ln w="0">
            <a:noFill/>
            <a:prstDash val="solid"/>
          </a:ln>
        </p:spPr>
        <p:txBody>
          <a:bodyPr wrap="square" lIns="0" tIns="0" rIns="0" bIns="0" anchor="t">
            <a:noAutofit/>
          </a:bodyPr>
          <a:lstStyle/>
          <a:p>
            <a:pPr algn="l">
              <a:lnSpc>
                <a:spcPct val="100000"/>
              </a:lnSpc>
              <a:buNone/>
              <a:defRPr sz="975" b="1">
                <a:solidFill>
                  <a:srgbClr val="0E6B50"/>
                </a:solidFill>
                <a:latin typeface="Helvetica Neue"/>
                <a:ea typeface="Helvetica Neue"/>
                <a:cs typeface="Helvetica Neue"/>
              </a:defRPr>
            </a:pPr>
            <a:r>
              <a:rPr sz="975" b="1">
                <a:solidFill>
                  <a:srgbClr val="0E6B50"/>
                </a:solidFill>
                <a:latin typeface="Helvetica Neue"/>
                <a:ea typeface="Helvetica Neue"/>
                <a:cs typeface="Helvetica Neue"/>
              </a:rPr>
              <a:t>FOR THE PRODUCT</a:t>
            </a:r>
          </a:p>
        </p:txBody>
      </p:sp>
      <p:sp>
        <p:nvSpPr>
          <p:cNvPr id="11" name="close-body-2">
            <a:extLst>
              <a:ext uri="{FF2B5EF4-FFF2-40B4-BE49-F238E27FC236}">
                <a16:creationId xmlns:a16="http://schemas.microsoft.com/office/drawing/2014/main" id="{FE8F413A-DBDB-41B9-B930-9C9B5A8FCC62}"/>
              </a:ext>
            </a:extLst>
          </p:cNvPr>
          <p:cNvSpPr>
            <a:spLocks noGrp="1"/>
          </p:cNvSpPr>
          <p:nvPr/>
        </p:nvSpPr>
        <p:spPr>
          <a:xfrm>
            <a:off x="7905750" y="5429250"/>
            <a:ext cx="3143250" cy="581025"/>
          </a:xfrm>
          <a:prstGeom prst="rect">
            <a:avLst/>
          </a:prstGeom>
          <a:noFill/>
          <a:ln w="0">
            <a:noFill/>
            <a:prstDash val="solid"/>
          </a:ln>
        </p:spPr>
        <p:txBody>
          <a:bodyPr wrap="square" lIns="0" tIns="0" rIns="0" bIns="0" anchor="t">
            <a:noAutofit/>
          </a:bodyPr>
          <a:lstStyle/>
          <a:p>
            <a:pPr algn="l">
              <a:lnSpc>
                <a:spcPct val="100000"/>
              </a:lnSpc>
              <a:buNone/>
              <a:defRPr sz="1425" b="1">
                <a:solidFill>
                  <a:srgbClr val="17211B"/>
                </a:solidFill>
                <a:latin typeface="Helvetica Neue"/>
                <a:ea typeface="Helvetica Neue"/>
                <a:cs typeface="Helvetica Neue"/>
              </a:defRPr>
            </a:pPr>
            <a:r>
              <a:rPr sz="1425" b="1">
                <a:solidFill>
                  <a:srgbClr val="17211B"/>
                </a:solidFill>
                <a:latin typeface="Helvetica Neue"/>
                <a:ea typeface="Helvetica Neue"/>
                <a:cs typeface="Helvetica Neue"/>
              </a:rPr>
              <a:t>A trust architecture that can mature without handing the ledger to AI.</a:t>
            </a:r>
          </a:p>
        </p:txBody>
      </p:sp>
      <p:sp>
        <p:nvSpPr>
          <p:cNvPr id="12" name="close-links">
            <a:extLst>
              <a:ext uri="{FF2B5EF4-FFF2-40B4-BE49-F238E27FC236}">
                <a16:creationId xmlns:a16="http://schemas.microsoft.com/office/drawing/2014/main" id="{7E9923BD-DE9A-4918-8DA6-0D8ACBFBD5C2}"/>
              </a:ext>
            </a:extLst>
          </p:cNvPr>
          <p:cNvSpPr>
            <a:spLocks noGrp="1"/>
          </p:cNvSpPr>
          <p:nvPr/>
        </p:nvSpPr>
        <p:spPr>
          <a:xfrm>
            <a:off x="590550" y="6334125"/>
            <a:ext cx="10287000" cy="228600"/>
          </a:xfrm>
          <a:prstGeom prst="rect">
            <a:avLst/>
          </a:prstGeom>
          <a:noFill/>
          <a:ln w="0">
            <a:noFill/>
            <a:prstDash val="solid"/>
          </a:ln>
        </p:spPr>
        <p:txBody>
          <a:bodyPr wrap="square" lIns="0" tIns="0" rIns="0" bIns="0" anchor="t">
            <a:noAutofit/>
          </a:bodyPr>
          <a:lstStyle/>
          <a:p>
            <a:pPr algn="l">
              <a:lnSpc>
                <a:spcPct val="100000"/>
              </a:lnSpc>
              <a:buNone/>
              <a:defRPr sz="1050" b="0">
                <a:solidFill>
                  <a:srgbClr val="17211B"/>
                </a:solidFill>
                <a:latin typeface="Helvetica Neue"/>
                <a:ea typeface="Helvetica Neue"/>
                <a:cs typeface="Helvetica Neue"/>
              </a:defRPr>
            </a:pPr>
            <a:r>
              <a:rPr sz="1050" b="1">
                <a:solidFill>
                  <a:srgbClr val="17211B"/>
                </a:solidFill>
                <a:latin typeface="Helvetica Neue"/>
                <a:ea typeface="Helvetica Neue"/>
                <a:cs typeface="Helvetica Neue"/>
                <a:hlinkClick r:id="rId3"/>
              </a:rPr>
              <a:t>thriveai-uab.vercel.app</a:t>
            </a:r>
            <a:r>
              <a:rPr sz="1050" b="0">
                <a:solidFill>
                  <a:srgbClr val="17211B"/>
                </a:solidFill>
                <a:latin typeface="Helvetica Neue"/>
                <a:ea typeface="Helvetica Neue"/>
                <a:cs typeface="Helvetica Neue"/>
              </a:rPr>
              <a:t>   •   </a:t>
            </a:r>
            <a:r>
              <a:rPr sz="1050" b="1">
                <a:solidFill>
                  <a:srgbClr val="17211B"/>
                </a:solidFill>
                <a:latin typeface="Helvetica Neue"/>
                <a:ea typeface="Helvetica Neue"/>
                <a:cs typeface="Helvetica Neue"/>
                <a:hlinkClick r:id="rId4"/>
              </a:rPr>
              <a:t>github.com/johnsawmin2015-tech/ThriveAI-UAB</a:t>
            </a:r>
          </a:p>
        </p:txBody>
      </p:sp>
    </p:spTree>
    <p:extLst>
      <p:ext uri="{BB962C8B-B14F-4D97-AF65-F5344CB8AC3E}">
        <p14:creationId xmlns:p14="http://schemas.microsoft.com/office/powerpoint/2010/main" val="80766372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1681</Words>
  <Application>Microsoft Macintosh PowerPoint</Application>
  <DocSecurity>0</DocSecurity>
  <PresentationFormat>Widescreen</PresentationFormat>
  <Paragraphs>215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Saw Min</cp:lastModifiedBy>
  <cp:revision>1</cp:revision>
  <dcterms:created xsi:type="dcterms:W3CDTF">2026-08-29T07:21:30Z</dcterms:created>
  <dcterms:modified xsi:type="dcterms:W3CDTF">2026-08-29T07:23:49Z</dcterms:modified>
</cp:coreProperties>
</file>